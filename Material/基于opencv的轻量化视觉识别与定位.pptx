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8" r:id="rId4"/>
    <p:sldId id="281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3" r:id="rId14"/>
    <p:sldId id="292" r:id="rId15"/>
    <p:sldId id="280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B4189"/>
    <a:srgbClr val="0A418D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76" y="64"/>
      </p:cViewPr>
      <p:guideLst>
        <p:guide orient="horz" pos="2160"/>
        <p:guide pos="3840"/>
        <p:guide orient="horz" pos="216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E875BF-9352-4AD4-BDAC-E5B099F29F2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0A1F22-5FBF-4BF6-9F13-D326BF53F327}">
      <dgm:prSet/>
      <dgm:spPr/>
      <dgm:t>
        <a:bodyPr/>
        <a:lstStyle/>
        <a:p>
          <a:r>
            <a:rPr lang="zh-CN"/>
            <a:t>本项目所需要的材料有如下：</a:t>
          </a:r>
          <a:endParaRPr lang="en-US"/>
        </a:p>
      </dgm:t>
    </dgm:pt>
    <dgm:pt modelId="{63CFD017-39A1-4F2F-A1F0-C3F51BFF4DC7}" type="parTrans" cxnId="{DC284292-FE60-42D4-895A-70A4DAF1F624}">
      <dgm:prSet/>
      <dgm:spPr/>
      <dgm:t>
        <a:bodyPr/>
        <a:lstStyle/>
        <a:p>
          <a:endParaRPr lang="en-US"/>
        </a:p>
      </dgm:t>
    </dgm:pt>
    <dgm:pt modelId="{074887FA-2BCC-4C42-ABDA-0784C17968F5}" type="sibTrans" cxnId="{DC284292-FE60-42D4-895A-70A4DAF1F624}">
      <dgm:prSet/>
      <dgm:spPr/>
      <dgm:t>
        <a:bodyPr/>
        <a:lstStyle/>
        <a:p>
          <a:endParaRPr lang="en-US"/>
        </a:p>
      </dgm:t>
    </dgm:pt>
    <dgm:pt modelId="{8703CACE-FF98-49FE-8157-64A1C082FA13}">
      <dgm:prSet/>
      <dgm:spPr/>
      <dgm:t>
        <a:bodyPr/>
        <a:lstStyle/>
        <a:p>
          <a:r>
            <a:rPr lang="zh-CN"/>
            <a:t>摄像机：用于获取清晰可利用的现场图像，是视觉识别的基础</a:t>
          </a:r>
          <a:endParaRPr lang="en-US"/>
        </a:p>
      </dgm:t>
    </dgm:pt>
    <dgm:pt modelId="{019890AC-FA18-4CE8-9781-87008BFB8470}" type="parTrans" cxnId="{2920B5BD-6991-4F2E-A421-79B4A9C68978}">
      <dgm:prSet/>
      <dgm:spPr/>
      <dgm:t>
        <a:bodyPr/>
        <a:lstStyle/>
        <a:p>
          <a:endParaRPr lang="en-US"/>
        </a:p>
      </dgm:t>
    </dgm:pt>
    <dgm:pt modelId="{3FC4DCA4-A6A2-4625-9EBA-4FB37FD8156F}" type="sibTrans" cxnId="{2920B5BD-6991-4F2E-A421-79B4A9C68978}">
      <dgm:prSet/>
      <dgm:spPr/>
      <dgm:t>
        <a:bodyPr/>
        <a:lstStyle/>
        <a:p>
          <a:endParaRPr lang="en-US"/>
        </a:p>
      </dgm:t>
    </dgm:pt>
    <dgm:pt modelId="{9CBD7DF3-AE3D-4ECD-BC32-C38136C28E95}">
      <dgm:prSet/>
      <dgm:spPr/>
      <dgm:t>
        <a:bodyPr/>
        <a:lstStyle/>
        <a:p>
          <a:r>
            <a:rPr lang="zh-CN"/>
            <a:t>嵌入式平台：如树莓派</a:t>
          </a:r>
          <a:r>
            <a:rPr lang="en-US"/>
            <a:t>4b</a:t>
          </a:r>
          <a:r>
            <a:rPr lang="zh-CN"/>
            <a:t>等</a:t>
          </a:r>
          <a:endParaRPr lang="en-US"/>
        </a:p>
      </dgm:t>
    </dgm:pt>
    <dgm:pt modelId="{4B0500F1-DF49-44AD-A095-8F54C3F3A588}" type="parTrans" cxnId="{AB70D7D1-D87B-49B6-B553-73C4321F1750}">
      <dgm:prSet/>
      <dgm:spPr/>
      <dgm:t>
        <a:bodyPr/>
        <a:lstStyle/>
        <a:p>
          <a:endParaRPr lang="en-US"/>
        </a:p>
      </dgm:t>
    </dgm:pt>
    <dgm:pt modelId="{59927AE1-AA49-4D65-943E-B00CC260AA49}" type="sibTrans" cxnId="{AB70D7D1-D87B-49B6-B553-73C4321F1750}">
      <dgm:prSet/>
      <dgm:spPr/>
      <dgm:t>
        <a:bodyPr/>
        <a:lstStyle/>
        <a:p>
          <a:endParaRPr lang="en-US"/>
        </a:p>
      </dgm:t>
    </dgm:pt>
    <dgm:pt modelId="{91A10168-E450-45DD-B52A-45A1F61C3184}">
      <dgm:prSet/>
      <dgm:spPr/>
      <dgm:t>
        <a:bodyPr/>
        <a:lstStyle/>
        <a:p>
          <a:r>
            <a:rPr lang="zh-CN"/>
            <a:t>相关支持视觉识别的模块</a:t>
          </a:r>
          <a:endParaRPr lang="en-US"/>
        </a:p>
      </dgm:t>
    </dgm:pt>
    <dgm:pt modelId="{3499FFF1-81E3-48E2-AD78-0156144BC732}" type="parTrans" cxnId="{72745C75-7685-4F74-8FAB-2229D8B10E47}">
      <dgm:prSet/>
      <dgm:spPr/>
      <dgm:t>
        <a:bodyPr/>
        <a:lstStyle/>
        <a:p>
          <a:endParaRPr lang="en-US"/>
        </a:p>
      </dgm:t>
    </dgm:pt>
    <dgm:pt modelId="{F7DED44E-7BE1-49C8-A0F6-55208156B718}" type="sibTrans" cxnId="{72745C75-7685-4F74-8FAB-2229D8B10E47}">
      <dgm:prSet/>
      <dgm:spPr/>
      <dgm:t>
        <a:bodyPr/>
        <a:lstStyle/>
        <a:p>
          <a:endParaRPr lang="en-US"/>
        </a:p>
      </dgm:t>
    </dgm:pt>
    <dgm:pt modelId="{A4F9C49B-A08E-4E9E-A935-1D798A00726F}">
      <dgm:prSet/>
      <dgm:spPr/>
      <dgm:t>
        <a:bodyPr/>
        <a:lstStyle/>
        <a:p>
          <a:r>
            <a:rPr lang="zh-CN"/>
            <a:t>一系列在实际场景下用于测试的特定目标</a:t>
          </a:r>
          <a:endParaRPr lang="en-US"/>
        </a:p>
      </dgm:t>
    </dgm:pt>
    <dgm:pt modelId="{F713BA16-873D-468F-8293-E5A5981E0674}" type="parTrans" cxnId="{4976EFF2-6F14-4220-861D-B9AA5BA9B523}">
      <dgm:prSet/>
      <dgm:spPr/>
      <dgm:t>
        <a:bodyPr/>
        <a:lstStyle/>
        <a:p>
          <a:endParaRPr lang="en-US"/>
        </a:p>
      </dgm:t>
    </dgm:pt>
    <dgm:pt modelId="{62F347F1-F80E-4F6F-BC03-19B12B9A4619}" type="sibTrans" cxnId="{4976EFF2-6F14-4220-861D-B9AA5BA9B523}">
      <dgm:prSet/>
      <dgm:spPr/>
      <dgm:t>
        <a:bodyPr/>
        <a:lstStyle/>
        <a:p>
          <a:endParaRPr lang="en-US"/>
        </a:p>
      </dgm:t>
    </dgm:pt>
    <dgm:pt modelId="{CA556B2C-3D7D-42BA-BB4B-2DC39143750A}">
      <dgm:prSet/>
      <dgm:spPr/>
      <dgm:t>
        <a:bodyPr/>
        <a:lstStyle/>
        <a:p>
          <a:r>
            <a:rPr lang="zh-CN"/>
            <a:t>预算</a:t>
          </a:r>
          <a:r>
            <a:rPr lang="en-US"/>
            <a:t>8000</a:t>
          </a:r>
          <a:r>
            <a:rPr lang="zh-CN"/>
            <a:t>元</a:t>
          </a:r>
          <a:endParaRPr lang="en-US"/>
        </a:p>
      </dgm:t>
    </dgm:pt>
    <dgm:pt modelId="{44FA19AD-B735-4011-98A1-F7DF96EEFF3A}" type="parTrans" cxnId="{C5AA091B-1803-427F-BBB9-11FC80387A70}">
      <dgm:prSet/>
      <dgm:spPr/>
      <dgm:t>
        <a:bodyPr/>
        <a:lstStyle/>
        <a:p>
          <a:endParaRPr lang="en-US"/>
        </a:p>
      </dgm:t>
    </dgm:pt>
    <dgm:pt modelId="{095121D3-80A2-41EE-8653-B44A371231B0}" type="sibTrans" cxnId="{C5AA091B-1803-427F-BBB9-11FC80387A70}">
      <dgm:prSet/>
      <dgm:spPr/>
      <dgm:t>
        <a:bodyPr/>
        <a:lstStyle/>
        <a:p>
          <a:endParaRPr lang="en-US"/>
        </a:p>
      </dgm:t>
    </dgm:pt>
    <dgm:pt modelId="{3B998414-403D-404C-9FA1-A1F30D63D5BC}" type="pres">
      <dgm:prSet presAssocID="{DFE875BF-9352-4AD4-BDAC-E5B099F29F2A}" presName="vert0" presStyleCnt="0">
        <dgm:presLayoutVars>
          <dgm:dir/>
          <dgm:animOne val="branch"/>
          <dgm:animLvl val="lvl"/>
        </dgm:presLayoutVars>
      </dgm:prSet>
      <dgm:spPr/>
    </dgm:pt>
    <dgm:pt modelId="{B61A8E42-603E-4D31-93BC-B1B73EE7559D}" type="pres">
      <dgm:prSet presAssocID="{9C0A1F22-5FBF-4BF6-9F13-D326BF53F327}" presName="thickLine" presStyleLbl="alignNode1" presStyleIdx="0" presStyleCnt="6"/>
      <dgm:spPr/>
    </dgm:pt>
    <dgm:pt modelId="{B3A79186-3213-4C54-ABA0-D85DF8D37A13}" type="pres">
      <dgm:prSet presAssocID="{9C0A1F22-5FBF-4BF6-9F13-D326BF53F327}" presName="horz1" presStyleCnt="0"/>
      <dgm:spPr/>
    </dgm:pt>
    <dgm:pt modelId="{EDC53358-E240-45F7-B16E-1FAF090C7D12}" type="pres">
      <dgm:prSet presAssocID="{9C0A1F22-5FBF-4BF6-9F13-D326BF53F327}" presName="tx1" presStyleLbl="revTx" presStyleIdx="0" presStyleCnt="6"/>
      <dgm:spPr/>
    </dgm:pt>
    <dgm:pt modelId="{E50AFED8-4031-4CAE-B1A8-34C70829F459}" type="pres">
      <dgm:prSet presAssocID="{9C0A1F22-5FBF-4BF6-9F13-D326BF53F327}" presName="vert1" presStyleCnt="0"/>
      <dgm:spPr/>
    </dgm:pt>
    <dgm:pt modelId="{14BAC1A6-EFE9-4534-A82A-1D2C8EFE81B5}" type="pres">
      <dgm:prSet presAssocID="{8703CACE-FF98-49FE-8157-64A1C082FA13}" presName="thickLine" presStyleLbl="alignNode1" presStyleIdx="1" presStyleCnt="6"/>
      <dgm:spPr/>
    </dgm:pt>
    <dgm:pt modelId="{E16E5C0D-9F2E-49E7-93F5-479A13DFAE15}" type="pres">
      <dgm:prSet presAssocID="{8703CACE-FF98-49FE-8157-64A1C082FA13}" presName="horz1" presStyleCnt="0"/>
      <dgm:spPr/>
    </dgm:pt>
    <dgm:pt modelId="{7B2C8267-FAEA-447B-B86C-9B42280CA0A4}" type="pres">
      <dgm:prSet presAssocID="{8703CACE-FF98-49FE-8157-64A1C082FA13}" presName="tx1" presStyleLbl="revTx" presStyleIdx="1" presStyleCnt="6"/>
      <dgm:spPr/>
    </dgm:pt>
    <dgm:pt modelId="{6673E15C-BAAC-4965-9676-12E31259251C}" type="pres">
      <dgm:prSet presAssocID="{8703CACE-FF98-49FE-8157-64A1C082FA13}" presName="vert1" presStyleCnt="0"/>
      <dgm:spPr/>
    </dgm:pt>
    <dgm:pt modelId="{51227C6C-A4C0-457D-A5ED-CCF209E705B8}" type="pres">
      <dgm:prSet presAssocID="{9CBD7DF3-AE3D-4ECD-BC32-C38136C28E95}" presName="thickLine" presStyleLbl="alignNode1" presStyleIdx="2" presStyleCnt="6"/>
      <dgm:spPr/>
    </dgm:pt>
    <dgm:pt modelId="{1DC68E81-34E9-4E0E-A8D0-2C49B0C9D078}" type="pres">
      <dgm:prSet presAssocID="{9CBD7DF3-AE3D-4ECD-BC32-C38136C28E95}" presName="horz1" presStyleCnt="0"/>
      <dgm:spPr/>
    </dgm:pt>
    <dgm:pt modelId="{5C445756-2FDF-4B01-B461-51E71CB01CC4}" type="pres">
      <dgm:prSet presAssocID="{9CBD7DF3-AE3D-4ECD-BC32-C38136C28E95}" presName="tx1" presStyleLbl="revTx" presStyleIdx="2" presStyleCnt="6"/>
      <dgm:spPr/>
    </dgm:pt>
    <dgm:pt modelId="{7B747301-18C6-4A85-82FB-81012F3EE389}" type="pres">
      <dgm:prSet presAssocID="{9CBD7DF3-AE3D-4ECD-BC32-C38136C28E95}" presName="vert1" presStyleCnt="0"/>
      <dgm:spPr/>
    </dgm:pt>
    <dgm:pt modelId="{AB514C94-29CE-46C2-929C-FEB9995F6BDF}" type="pres">
      <dgm:prSet presAssocID="{91A10168-E450-45DD-B52A-45A1F61C3184}" presName="thickLine" presStyleLbl="alignNode1" presStyleIdx="3" presStyleCnt="6"/>
      <dgm:spPr/>
    </dgm:pt>
    <dgm:pt modelId="{76AED6D4-66BD-4189-B702-8EB00927582C}" type="pres">
      <dgm:prSet presAssocID="{91A10168-E450-45DD-B52A-45A1F61C3184}" presName="horz1" presStyleCnt="0"/>
      <dgm:spPr/>
    </dgm:pt>
    <dgm:pt modelId="{9620ED9E-E5CA-4E71-ABFF-649A4CCFE81F}" type="pres">
      <dgm:prSet presAssocID="{91A10168-E450-45DD-B52A-45A1F61C3184}" presName="tx1" presStyleLbl="revTx" presStyleIdx="3" presStyleCnt="6"/>
      <dgm:spPr/>
    </dgm:pt>
    <dgm:pt modelId="{F5DD2F0C-C0C5-4902-8FB6-FE604F90E27F}" type="pres">
      <dgm:prSet presAssocID="{91A10168-E450-45DD-B52A-45A1F61C3184}" presName="vert1" presStyleCnt="0"/>
      <dgm:spPr/>
    </dgm:pt>
    <dgm:pt modelId="{3666912D-E2A6-411B-929B-CFEACC3A22D0}" type="pres">
      <dgm:prSet presAssocID="{A4F9C49B-A08E-4E9E-A935-1D798A00726F}" presName="thickLine" presStyleLbl="alignNode1" presStyleIdx="4" presStyleCnt="6"/>
      <dgm:spPr/>
    </dgm:pt>
    <dgm:pt modelId="{A5DD75B6-4017-41BD-9E6F-7E0E2782DBC8}" type="pres">
      <dgm:prSet presAssocID="{A4F9C49B-A08E-4E9E-A935-1D798A00726F}" presName="horz1" presStyleCnt="0"/>
      <dgm:spPr/>
    </dgm:pt>
    <dgm:pt modelId="{820F08AC-D661-44F6-9E2F-3A64AA72D8DA}" type="pres">
      <dgm:prSet presAssocID="{A4F9C49B-A08E-4E9E-A935-1D798A00726F}" presName="tx1" presStyleLbl="revTx" presStyleIdx="4" presStyleCnt="6"/>
      <dgm:spPr/>
    </dgm:pt>
    <dgm:pt modelId="{E0F6DF99-12C9-4310-AFB5-DB7069EBD113}" type="pres">
      <dgm:prSet presAssocID="{A4F9C49B-A08E-4E9E-A935-1D798A00726F}" presName="vert1" presStyleCnt="0"/>
      <dgm:spPr/>
    </dgm:pt>
    <dgm:pt modelId="{74410DCB-D1C0-4EF4-A7E3-3446235B3D52}" type="pres">
      <dgm:prSet presAssocID="{CA556B2C-3D7D-42BA-BB4B-2DC39143750A}" presName="thickLine" presStyleLbl="alignNode1" presStyleIdx="5" presStyleCnt="6"/>
      <dgm:spPr/>
    </dgm:pt>
    <dgm:pt modelId="{C1E33632-1A59-4DB1-A867-EFE85AB1220E}" type="pres">
      <dgm:prSet presAssocID="{CA556B2C-3D7D-42BA-BB4B-2DC39143750A}" presName="horz1" presStyleCnt="0"/>
      <dgm:spPr/>
    </dgm:pt>
    <dgm:pt modelId="{10387CC6-E512-496C-A5E5-42B27B640F9E}" type="pres">
      <dgm:prSet presAssocID="{CA556B2C-3D7D-42BA-BB4B-2DC39143750A}" presName="tx1" presStyleLbl="revTx" presStyleIdx="5" presStyleCnt="6"/>
      <dgm:spPr/>
    </dgm:pt>
    <dgm:pt modelId="{F90533C5-E996-460C-81B8-00BDD725E53C}" type="pres">
      <dgm:prSet presAssocID="{CA556B2C-3D7D-42BA-BB4B-2DC39143750A}" presName="vert1" presStyleCnt="0"/>
      <dgm:spPr/>
    </dgm:pt>
  </dgm:ptLst>
  <dgm:cxnLst>
    <dgm:cxn modelId="{C5AA091B-1803-427F-BBB9-11FC80387A70}" srcId="{DFE875BF-9352-4AD4-BDAC-E5B099F29F2A}" destId="{CA556B2C-3D7D-42BA-BB4B-2DC39143750A}" srcOrd="5" destOrd="0" parTransId="{44FA19AD-B735-4011-98A1-F7DF96EEFF3A}" sibTransId="{095121D3-80A2-41EE-8653-B44A371231B0}"/>
    <dgm:cxn modelId="{726C0922-1CF9-4715-AA0D-87BAFDC6ABF6}" type="presOf" srcId="{A4F9C49B-A08E-4E9E-A935-1D798A00726F}" destId="{820F08AC-D661-44F6-9E2F-3A64AA72D8DA}" srcOrd="0" destOrd="0" presId="urn:microsoft.com/office/officeart/2008/layout/LinedList"/>
    <dgm:cxn modelId="{93160F2D-72F6-407A-A675-6C63F3B7A0D3}" type="presOf" srcId="{CA556B2C-3D7D-42BA-BB4B-2DC39143750A}" destId="{10387CC6-E512-496C-A5E5-42B27B640F9E}" srcOrd="0" destOrd="0" presId="urn:microsoft.com/office/officeart/2008/layout/LinedList"/>
    <dgm:cxn modelId="{07E2C93C-3BF5-4A84-9C75-93E07C560B25}" type="presOf" srcId="{8703CACE-FF98-49FE-8157-64A1C082FA13}" destId="{7B2C8267-FAEA-447B-B86C-9B42280CA0A4}" srcOrd="0" destOrd="0" presId="urn:microsoft.com/office/officeart/2008/layout/LinedList"/>
    <dgm:cxn modelId="{72745C75-7685-4F74-8FAB-2229D8B10E47}" srcId="{DFE875BF-9352-4AD4-BDAC-E5B099F29F2A}" destId="{91A10168-E450-45DD-B52A-45A1F61C3184}" srcOrd="3" destOrd="0" parTransId="{3499FFF1-81E3-48E2-AD78-0156144BC732}" sibTransId="{F7DED44E-7BE1-49C8-A0F6-55208156B718}"/>
    <dgm:cxn modelId="{DC284292-FE60-42D4-895A-70A4DAF1F624}" srcId="{DFE875BF-9352-4AD4-BDAC-E5B099F29F2A}" destId="{9C0A1F22-5FBF-4BF6-9F13-D326BF53F327}" srcOrd="0" destOrd="0" parTransId="{63CFD017-39A1-4F2F-A1F0-C3F51BFF4DC7}" sibTransId="{074887FA-2BCC-4C42-ABDA-0784C17968F5}"/>
    <dgm:cxn modelId="{0A9286AD-F429-4F9D-BA4C-1FEF7AA88757}" type="presOf" srcId="{DFE875BF-9352-4AD4-BDAC-E5B099F29F2A}" destId="{3B998414-403D-404C-9FA1-A1F30D63D5BC}" srcOrd="0" destOrd="0" presId="urn:microsoft.com/office/officeart/2008/layout/LinedList"/>
    <dgm:cxn modelId="{5F29FBB4-878F-401C-BC57-9B8F9D87DF5B}" type="presOf" srcId="{9CBD7DF3-AE3D-4ECD-BC32-C38136C28E95}" destId="{5C445756-2FDF-4B01-B461-51E71CB01CC4}" srcOrd="0" destOrd="0" presId="urn:microsoft.com/office/officeart/2008/layout/LinedList"/>
    <dgm:cxn modelId="{2920B5BD-6991-4F2E-A421-79B4A9C68978}" srcId="{DFE875BF-9352-4AD4-BDAC-E5B099F29F2A}" destId="{8703CACE-FF98-49FE-8157-64A1C082FA13}" srcOrd="1" destOrd="0" parTransId="{019890AC-FA18-4CE8-9781-87008BFB8470}" sibTransId="{3FC4DCA4-A6A2-4625-9EBA-4FB37FD8156F}"/>
    <dgm:cxn modelId="{4D3D43C9-9AD5-4E0B-9823-F959692E57B5}" type="presOf" srcId="{9C0A1F22-5FBF-4BF6-9F13-D326BF53F327}" destId="{EDC53358-E240-45F7-B16E-1FAF090C7D12}" srcOrd="0" destOrd="0" presId="urn:microsoft.com/office/officeart/2008/layout/LinedList"/>
    <dgm:cxn modelId="{AB70D7D1-D87B-49B6-B553-73C4321F1750}" srcId="{DFE875BF-9352-4AD4-BDAC-E5B099F29F2A}" destId="{9CBD7DF3-AE3D-4ECD-BC32-C38136C28E95}" srcOrd="2" destOrd="0" parTransId="{4B0500F1-DF49-44AD-A095-8F54C3F3A588}" sibTransId="{59927AE1-AA49-4D65-943E-B00CC260AA49}"/>
    <dgm:cxn modelId="{E660B1EA-6092-47BF-A626-CC6DC4DF8086}" type="presOf" srcId="{91A10168-E450-45DD-B52A-45A1F61C3184}" destId="{9620ED9E-E5CA-4E71-ABFF-649A4CCFE81F}" srcOrd="0" destOrd="0" presId="urn:microsoft.com/office/officeart/2008/layout/LinedList"/>
    <dgm:cxn modelId="{4976EFF2-6F14-4220-861D-B9AA5BA9B523}" srcId="{DFE875BF-9352-4AD4-BDAC-E5B099F29F2A}" destId="{A4F9C49B-A08E-4E9E-A935-1D798A00726F}" srcOrd="4" destOrd="0" parTransId="{F713BA16-873D-468F-8293-E5A5981E0674}" sibTransId="{62F347F1-F80E-4F6F-BC03-19B12B9A4619}"/>
    <dgm:cxn modelId="{DC8FD979-575B-43DA-8737-229DD8CE6BF3}" type="presParOf" srcId="{3B998414-403D-404C-9FA1-A1F30D63D5BC}" destId="{B61A8E42-603E-4D31-93BC-B1B73EE7559D}" srcOrd="0" destOrd="0" presId="urn:microsoft.com/office/officeart/2008/layout/LinedList"/>
    <dgm:cxn modelId="{EF9DAFFE-1897-4AC0-9672-7E97379216DE}" type="presParOf" srcId="{3B998414-403D-404C-9FA1-A1F30D63D5BC}" destId="{B3A79186-3213-4C54-ABA0-D85DF8D37A13}" srcOrd="1" destOrd="0" presId="urn:microsoft.com/office/officeart/2008/layout/LinedList"/>
    <dgm:cxn modelId="{B1360F18-7D67-4C2D-BEA8-ADCE4FBB42DB}" type="presParOf" srcId="{B3A79186-3213-4C54-ABA0-D85DF8D37A13}" destId="{EDC53358-E240-45F7-B16E-1FAF090C7D12}" srcOrd="0" destOrd="0" presId="urn:microsoft.com/office/officeart/2008/layout/LinedList"/>
    <dgm:cxn modelId="{F3FD26DE-9D49-4136-8C80-1631C3FB72A8}" type="presParOf" srcId="{B3A79186-3213-4C54-ABA0-D85DF8D37A13}" destId="{E50AFED8-4031-4CAE-B1A8-34C70829F459}" srcOrd="1" destOrd="0" presId="urn:microsoft.com/office/officeart/2008/layout/LinedList"/>
    <dgm:cxn modelId="{6C5D4818-0ED8-4FEC-8A0D-956AC4EDD2F6}" type="presParOf" srcId="{3B998414-403D-404C-9FA1-A1F30D63D5BC}" destId="{14BAC1A6-EFE9-4534-A82A-1D2C8EFE81B5}" srcOrd="2" destOrd="0" presId="urn:microsoft.com/office/officeart/2008/layout/LinedList"/>
    <dgm:cxn modelId="{4BE6A8CC-0403-4056-9660-6C5BCC998BA2}" type="presParOf" srcId="{3B998414-403D-404C-9FA1-A1F30D63D5BC}" destId="{E16E5C0D-9F2E-49E7-93F5-479A13DFAE15}" srcOrd="3" destOrd="0" presId="urn:microsoft.com/office/officeart/2008/layout/LinedList"/>
    <dgm:cxn modelId="{6D19D00D-F6FB-44D3-87CB-D9E419AD866A}" type="presParOf" srcId="{E16E5C0D-9F2E-49E7-93F5-479A13DFAE15}" destId="{7B2C8267-FAEA-447B-B86C-9B42280CA0A4}" srcOrd="0" destOrd="0" presId="urn:microsoft.com/office/officeart/2008/layout/LinedList"/>
    <dgm:cxn modelId="{0F26D2F1-E45B-4797-BCB6-57E3297F654B}" type="presParOf" srcId="{E16E5C0D-9F2E-49E7-93F5-479A13DFAE15}" destId="{6673E15C-BAAC-4965-9676-12E31259251C}" srcOrd="1" destOrd="0" presId="urn:microsoft.com/office/officeart/2008/layout/LinedList"/>
    <dgm:cxn modelId="{D2298AEA-4296-4FC1-AF4F-3B9890A41C05}" type="presParOf" srcId="{3B998414-403D-404C-9FA1-A1F30D63D5BC}" destId="{51227C6C-A4C0-457D-A5ED-CCF209E705B8}" srcOrd="4" destOrd="0" presId="urn:microsoft.com/office/officeart/2008/layout/LinedList"/>
    <dgm:cxn modelId="{B0470A9A-4A8C-40D4-80D8-533D4C6C3982}" type="presParOf" srcId="{3B998414-403D-404C-9FA1-A1F30D63D5BC}" destId="{1DC68E81-34E9-4E0E-A8D0-2C49B0C9D078}" srcOrd="5" destOrd="0" presId="urn:microsoft.com/office/officeart/2008/layout/LinedList"/>
    <dgm:cxn modelId="{A34B0323-A233-4405-899A-946900108995}" type="presParOf" srcId="{1DC68E81-34E9-4E0E-A8D0-2C49B0C9D078}" destId="{5C445756-2FDF-4B01-B461-51E71CB01CC4}" srcOrd="0" destOrd="0" presId="urn:microsoft.com/office/officeart/2008/layout/LinedList"/>
    <dgm:cxn modelId="{80940BA9-3672-4E47-9A7B-86778F6DFDB0}" type="presParOf" srcId="{1DC68E81-34E9-4E0E-A8D0-2C49B0C9D078}" destId="{7B747301-18C6-4A85-82FB-81012F3EE389}" srcOrd="1" destOrd="0" presId="urn:microsoft.com/office/officeart/2008/layout/LinedList"/>
    <dgm:cxn modelId="{603C5353-4FE7-4A83-A877-F21D79956873}" type="presParOf" srcId="{3B998414-403D-404C-9FA1-A1F30D63D5BC}" destId="{AB514C94-29CE-46C2-929C-FEB9995F6BDF}" srcOrd="6" destOrd="0" presId="urn:microsoft.com/office/officeart/2008/layout/LinedList"/>
    <dgm:cxn modelId="{3880E8B9-9837-415D-851B-C395D292BDA3}" type="presParOf" srcId="{3B998414-403D-404C-9FA1-A1F30D63D5BC}" destId="{76AED6D4-66BD-4189-B702-8EB00927582C}" srcOrd="7" destOrd="0" presId="urn:microsoft.com/office/officeart/2008/layout/LinedList"/>
    <dgm:cxn modelId="{9C36F767-9A3B-484C-B6C4-5F49DA73E22A}" type="presParOf" srcId="{76AED6D4-66BD-4189-B702-8EB00927582C}" destId="{9620ED9E-E5CA-4E71-ABFF-649A4CCFE81F}" srcOrd="0" destOrd="0" presId="urn:microsoft.com/office/officeart/2008/layout/LinedList"/>
    <dgm:cxn modelId="{08D640D1-22F1-4C27-922D-D972059C968E}" type="presParOf" srcId="{76AED6D4-66BD-4189-B702-8EB00927582C}" destId="{F5DD2F0C-C0C5-4902-8FB6-FE604F90E27F}" srcOrd="1" destOrd="0" presId="urn:microsoft.com/office/officeart/2008/layout/LinedList"/>
    <dgm:cxn modelId="{895DEE30-BE86-491E-AC2D-D33FEB0D0A1A}" type="presParOf" srcId="{3B998414-403D-404C-9FA1-A1F30D63D5BC}" destId="{3666912D-E2A6-411B-929B-CFEACC3A22D0}" srcOrd="8" destOrd="0" presId="urn:microsoft.com/office/officeart/2008/layout/LinedList"/>
    <dgm:cxn modelId="{039E0FB6-4C1E-4259-97EB-C83F8A4956CE}" type="presParOf" srcId="{3B998414-403D-404C-9FA1-A1F30D63D5BC}" destId="{A5DD75B6-4017-41BD-9E6F-7E0E2782DBC8}" srcOrd="9" destOrd="0" presId="urn:microsoft.com/office/officeart/2008/layout/LinedList"/>
    <dgm:cxn modelId="{3AF303B8-8C69-41BE-9A90-F4C9E60853F2}" type="presParOf" srcId="{A5DD75B6-4017-41BD-9E6F-7E0E2782DBC8}" destId="{820F08AC-D661-44F6-9E2F-3A64AA72D8DA}" srcOrd="0" destOrd="0" presId="urn:microsoft.com/office/officeart/2008/layout/LinedList"/>
    <dgm:cxn modelId="{A3B81767-80D8-4059-8AD7-C634BD6F14BF}" type="presParOf" srcId="{A5DD75B6-4017-41BD-9E6F-7E0E2782DBC8}" destId="{E0F6DF99-12C9-4310-AFB5-DB7069EBD113}" srcOrd="1" destOrd="0" presId="urn:microsoft.com/office/officeart/2008/layout/LinedList"/>
    <dgm:cxn modelId="{FB2ED2DB-D6D7-48D2-91ED-75D777C9146C}" type="presParOf" srcId="{3B998414-403D-404C-9FA1-A1F30D63D5BC}" destId="{74410DCB-D1C0-4EF4-A7E3-3446235B3D52}" srcOrd="10" destOrd="0" presId="urn:microsoft.com/office/officeart/2008/layout/LinedList"/>
    <dgm:cxn modelId="{FD43DBAA-DD29-4BC3-B6D8-CADFC4CE1CF2}" type="presParOf" srcId="{3B998414-403D-404C-9FA1-A1F30D63D5BC}" destId="{C1E33632-1A59-4DB1-A867-EFE85AB1220E}" srcOrd="11" destOrd="0" presId="urn:microsoft.com/office/officeart/2008/layout/LinedList"/>
    <dgm:cxn modelId="{E950C308-B48B-44FC-9696-8515BB8147DE}" type="presParOf" srcId="{C1E33632-1A59-4DB1-A867-EFE85AB1220E}" destId="{10387CC6-E512-496C-A5E5-42B27B640F9E}" srcOrd="0" destOrd="0" presId="urn:microsoft.com/office/officeart/2008/layout/LinedList"/>
    <dgm:cxn modelId="{E011B0C1-4D8C-4492-B8ED-E0C7CDF728CE}" type="presParOf" srcId="{C1E33632-1A59-4DB1-A867-EFE85AB1220E}" destId="{F90533C5-E996-460C-81B8-00BDD725E5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1A8E42-603E-4D31-93BC-B1B73EE7559D}">
      <dsp:nvSpPr>
        <dsp:cNvPr id="0" name=""/>
        <dsp:cNvSpPr/>
      </dsp:nvSpPr>
      <dsp:spPr>
        <a:xfrm>
          <a:off x="0" y="2284"/>
          <a:ext cx="105918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53358-E240-45F7-B16E-1FAF090C7D12}">
      <dsp:nvSpPr>
        <dsp:cNvPr id="0" name=""/>
        <dsp:cNvSpPr/>
      </dsp:nvSpPr>
      <dsp:spPr>
        <a:xfrm>
          <a:off x="0" y="2284"/>
          <a:ext cx="10591842" cy="77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本项目所需要的材料有如下：</a:t>
          </a:r>
          <a:endParaRPr lang="en-US" sz="3000" kern="1200"/>
        </a:p>
      </dsp:txBody>
      <dsp:txXfrm>
        <a:off x="0" y="2284"/>
        <a:ext cx="10591842" cy="778939"/>
      </dsp:txXfrm>
    </dsp:sp>
    <dsp:sp modelId="{14BAC1A6-EFE9-4534-A82A-1D2C8EFE81B5}">
      <dsp:nvSpPr>
        <dsp:cNvPr id="0" name=""/>
        <dsp:cNvSpPr/>
      </dsp:nvSpPr>
      <dsp:spPr>
        <a:xfrm>
          <a:off x="0" y="781223"/>
          <a:ext cx="105918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C8267-FAEA-447B-B86C-9B42280CA0A4}">
      <dsp:nvSpPr>
        <dsp:cNvPr id="0" name=""/>
        <dsp:cNvSpPr/>
      </dsp:nvSpPr>
      <dsp:spPr>
        <a:xfrm>
          <a:off x="0" y="781223"/>
          <a:ext cx="10591842" cy="77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摄像机：用于获取清晰可利用的现场图像，是视觉识别的基础</a:t>
          </a:r>
          <a:endParaRPr lang="en-US" sz="3000" kern="1200"/>
        </a:p>
      </dsp:txBody>
      <dsp:txXfrm>
        <a:off x="0" y="781223"/>
        <a:ext cx="10591842" cy="778939"/>
      </dsp:txXfrm>
    </dsp:sp>
    <dsp:sp modelId="{51227C6C-A4C0-457D-A5ED-CCF209E705B8}">
      <dsp:nvSpPr>
        <dsp:cNvPr id="0" name=""/>
        <dsp:cNvSpPr/>
      </dsp:nvSpPr>
      <dsp:spPr>
        <a:xfrm>
          <a:off x="0" y="1560162"/>
          <a:ext cx="105918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45756-2FDF-4B01-B461-51E71CB01CC4}">
      <dsp:nvSpPr>
        <dsp:cNvPr id="0" name=""/>
        <dsp:cNvSpPr/>
      </dsp:nvSpPr>
      <dsp:spPr>
        <a:xfrm>
          <a:off x="0" y="1560162"/>
          <a:ext cx="10591842" cy="77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嵌入式平台：如树莓派</a:t>
          </a:r>
          <a:r>
            <a:rPr lang="en-US" sz="3000" kern="1200"/>
            <a:t>4b</a:t>
          </a:r>
          <a:r>
            <a:rPr lang="zh-CN" sz="3000" kern="1200"/>
            <a:t>等</a:t>
          </a:r>
          <a:endParaRPr lang="en-US" sz="3000" kern="1200"/>
        </a:p>
      </dsp:txBody>
      <dsp:txXfrm>
        <a:off x="0" y="1560162"/>
        <a:ext cx="10591842" cy="778939"/>
      </dsp:txXfrm>
    </dsp:sp>
    <dsp:sp modelId="{AB514C94-29CE-46C2-929C-FEB9995F6BDF}">
      <dsp:nvSpPr>
        <dsp:cNvPr id="0" name=""/>
        <dsp:cNvSpPr/>
      </dsp:nvSpPr>
      <dsp:spPr>
        <a:xfrm>
          <a:off x="0" y="2339102"/>
          <a:ext cx="105918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0ED9E-E5CA-4E71-ABFF-649A4CCFE81F}">
      <dsp:nvSpPr>
        <dsp:cNvPr id="0" name=""/>
        <dsp:cNvSpPr/>
      </dsp:nvSpPr>
      <dsp:spPr>
        <a:xfrm>
          <a:off x="0" y="2339102"/>
          <a:ext cx="10591842" cy="77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相关支持视觉识别的模块</a:t>
          </a:r>
          <a:endParaRPr lang="en-US" sz="3000" kern="1200"/>
        </a:p>
      </dsp:txBody>
      <dsp:txXfrm>
        <a:off x="0" y="2339102"/>
        <a:ext cx="10591842" cy="778939"/>
      </dsp:txXfrm>
    </dsp:sp>
    <dsp:sp modelId="{3666912D-E2A6-411B-929B-CFEACC3A22D0}">
      <dsp:nvSpPr>
        <dsp:cNvPr id="0" name=""/>
        <dsp:cNvSpPr/>
      </dsp:nvSpPr>
      <dsp:spPr>
        <a:xfrm>
          <a:off x="0" y="3118041"/>
          <a:ext cx="105918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F08AC-D661-44F6-9E2F-3A64AA72D8DA}">
      <dsp:nvSpPr>
        <dsp:cNvPr id="0" name=""/>
        <dsp:cNvSpPr/>
      </dsp:nvSpPr>
      <dsp:spPr>
        <a:xfrm>
          <a:off x="0" y="3118041"/>
          <a:ext cx="10591842" cy="77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一系列在实际场景下用于测试的特定目标</a:t>
          </a:r>
          <a:endParaRPr lang="en-US" sz="3000" kern="1200"/>
        </a:p>
      </dsp:txBody>
      <dsp:txXfrm>
        <a:off x="0" y="3118041"/>
        <a:ext cx="10591842" cy="778939"/>
      </dsp:txXfrm>
    </dsp:sp>
    <dsp:sp modelId="{74410DCB-D1C0-4EF4-A7E3-3446235B3D52}">
      <dsp:nvSpPr>
        <dsp:cNvPr id="0" name=""/>
        <dsp:cNvSpPr/>
      </dsp:nvSpPr>
      <dsp:spPr>
        <a:xfrm>
          <a:off x="0" y="3896980"/>
          <a:ext cx="105918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87CC6-E512-496C-A5E5-42B27B640F9E}">
      <dsp:nvSpPr>
        <dsp:cNvPr id="0" name=""/>
        <dsp:cNvSpPr/>
      </dsp:nvSpPr>
      <dsp:spPr>
        <a:xfrm>
          <a:off x="0" y="3896980"/>
          <a:ext cx="10591842" cy="77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预算</a:t>
          </a:r>
          <a:r>
            <a:rPr lang="en-US" sz="3000" kern="1200"/>
            <a:t>8000</a:t>
          </a:r>
          <a:r>
            <a:rPr lang="zh-CN" sz="3000" kern="1200"/>
            <a:t>元</a:t>
          </a:r>
          <a:endParaRPr lang="en-US" sz="3000" kern="1200"/>
        </a:p>
      </dsp:txBody>
      <dsp:txXfrm>
        <a:off x="0" y="3896980"/>
        <a:ext cx="10591842" cy="778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917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20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59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63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8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52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770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2026/1/23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90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913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268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33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56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tags" Target="../tags/tag46.xml"/><Relationship Id="rId39" Type="http://schemas.openxmlformats.org/officeDocument/2006/relationships/slideLayout" Target="../slideLayouts/slideLayout1.xml"/><Relationship Id="rId21" Type="http://schemas.openxmlformats.org/officeDocument/2006/relationships/tags" Target="../tags/tag41.xml"/><Relationship Id="rId34" Type="http://schemas.openxmlformats.org/officeDocument/2006/relationships/tags" Target="../tags/tag54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tags" Target="../tags/tag45.xml"/><Relationship Id="rId33" Type="http://schemas.openxmlformats.org/officeDocument/2006/relationships/tags" Target="../tags/tag53.xml"/><Relationship Id="rId38" Type="http://schemas.openxmlformats.org/officeDocument/2006/relationships/tags" Target="../tags/tag58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29" Type="http://schemas.openxmlformats.org/officeDocument/2006/relationships/tags" Target="../tags/tag49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tags" Target="../tags/tag44.xml"/><Relationship Id="rId32" Type="http://schemas.openxmlformats.org/officeDocument/2006/relationships/tags" Target="../tags/tag52.xml"/><Relationship Id="rId37" Type="http://schemas.openxmlformats.org/officeDocument/2006/relationships/tags" Target="../tags/tag57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tags" Target="../tags/tag43.xml"/><Relationship Id="rId28" Type="http://schemas.openxmlformats.org/officeDocument/2006/relationships/tags" Target="../tags/tag48.xml"/><Relationship Id="rId36" Type="http://schemas.openxmlformats.org/officeDocument/2006/relationships/tags" Target="../tags/tag56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31" Type="http://schemas.openxmlformats.org/officeDocument/2006/relationships/tags" Target="../tags/tag51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tags" Target="../tags/tag42.xml"/><Relationship Id="rId27" Type="http://schemas.openxmlformats.org/officeDocument/2006/relationships/tags" Target="../tags/tag47.xml"/><Relationship Id="rId30" Type="http://schemas.openxmlformats.org/officeDocument/2006/relationships/tags" Target="../tags/tag50.xml"/><Relationship Id="rId35" Type="http://schemas.openxmlformats.org/officeDocument/2006/relationships/tags" Target="../tags/tag55.xml"/><Relationship Id="rId8" Type="http://schemas.openxmlformats.org/officeDocument/2006/relationships/tags" Target="../tags/tag28.xml"/><Relationship Id="rId3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1.xml"/><Relationship Id="rId7" Type="http://schemas.openxmlformats.org/officeDocument/2006/relationships/diagramColors" Target="../diagrams/colors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925887"/>
            <a:ext cx="12192000" cy="2926715"/>
          </a:xfrm>
          <a:prstGeom prst="rect">
            <a:avLst/>
          </a:prstGeom>
          <a:solidFill>
            <a:srgbClr val="0B4189"/>
          </a:solidFill>
          <a:ln>
            <a:solidFill>
              <a:srgbClr val="0A418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01322" y="4572319"/>
            <a:ext cx="4228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记录员：刘绅楠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991735" y="5051425"/>
            <a:ext cx="3866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指导老师：徐晶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991735" y="4203859"/>
            <a:ext cx="2552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汇报人：刘淇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34695" y="1468755"/>
            <a:ext cx="10762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基于</a:t>
            </a:r>
            <a:r>
              <a:rPr lang="en-US" altLang="zh-C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的轻量化视觉识别和定位系统</a:t>
            </a:r>
            <a:endParaRPr lang="en-US" altLang="zh-C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6730" y="1619250"/>
            <a:ext cx="76200" cy="162179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4991734" y="5505608"/>
            <a:ext cx="2552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汇报日期：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2026.1.23</a:t>
            </a:r>
            <a:endParaRPr lang="zh-CN" altLang="en-US" b="1" dirty="0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流程图: 可选过程 25"/>
          <p:cNvSpPr/>
          <p:nvPr>
            <p:custDataLst>
              <p:tags r:id="rId2"/>
            </p:custDataLst>
          </p:nvPr>
        </p:nvSpPr>
        <p:spPr>
          <a:xfrm>
            <a:off x="3763384" y="304007"/>
            <a:ext cx="3804920" cy="63754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75652" y="1797209"/>
            <a:ext cx="3240000" cy="3240000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1141259" y="2836705"/>
            <a:ext cx="1790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4703819" y="351314"/>
            <a:ext cx="27489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r>
              <a:rPr lang="en-US" altLang="zh-CN" sz="2800" b="1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800" b="1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目的</a:t>
            </a:r>
          </a:p>
        </p:txBody>
      </p:sp>
      <p:sp>
        <p:nvSpPr>
          <p:cNvPr id="27" name="椭圆 26"/>
          <p:cNvSpPr/>
          <p:nvPr>
            <p:custDataLst>
              <p:tags r:id="rId5"/>
            </p:custDataLst>
          </p:nvPr>
        </p:nvSpPr>
        <p:spPr>
          <a:xfrm>
            <a:off x="3904989" y="355124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3906894" y="381159"/>
            <a:ext cx="58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/>
          <p:cNvSpPr/>
          <p:nvPr>
            <p:custDataLst>
              <p:tags r:id="rId7"/>
            </p:custDataLst>
          </p:nvPr>
        </p:nvSpPr>
        <p:spPr>
          <a:xfrm>
            <a:off x="3763384" y="1243489"/>
            <a:ext cx="3804920" cy="63754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4703819" y="1306989"/>
            <a:ext cx="2125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核心研究内容</a:t>
            </a:r>
          </a:p>
        </p:txBody>
      </p:sp>
      <p:sp>
        <p:nvSpPr>
          <p:cNvPr id="31" name="椭圆 30"/>
          <p:cNvSpPr/>
          <p:nvPr>
            <p:custDataLst>
              <p:tags r:id="rId9"/>
            </p:custDataLst>
          </p:nvPr>
        </p:nvSpPr>
        <p:spPr>
          <a:xfrm>
            <a:off x="3904989" y="1310799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3906894" y="1336834"/>
            <a:ext cx="58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/>
          <p:cNvSpPr/>
          <p:nvPr>
            <p:custDataLst>
              <p:tags r:id="rId11"/>
            </p:custDataLst>
          </p:nvPr>
        </p:nvSpPr>
        <p:spPr>
          <a:xfrm>
            <a:off x="3764220" y="2093438"/>
            <a:ext cx="3804083" cy="829626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4587614" y="2081352"/>
            <a:ext cx="28111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国内外研究现状和发展动态</a:t>
            </a:r>
            <a:endParaRPr lang="en-US" altLang="zh-CN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椭圆 34"/>
          <p:cNvSpPr/>
          <p:nvPr>
            <p:custDataLst>
              <p:tags r:id="rId13"/>
            </p:custDataLst>
          </p:nvPr>
        </p:nvSpPr>
        <p:spPr>
          <a:xfrm>
            <a:off x="3904989" y="2264569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3904989" y="2297907"/>
            <a:ext cx="58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/>
          <p:cNvSpPr/>
          <p:nvPr>
            <p:custDataLst>
              <p:tags r:id="rId15"/>
            </p:custDataLst>
          </p:nvPr>
        </p:nvSpPr>
        <p:spPr>
          <a:xfrm>
            <a:off x="3764220" y="3061494"/>
            <a:ext cx="3804083" cy="93599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4704454" y="3114333"/>
            <a:ext cx="2748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研究路线及解决的主要问题</a:t>
            </a:r>
          </a:p>
        </p:txBody>
      </p:sp>
      <p:sp>
        <p:nvSpPr>
          <p:cNvPr id="39" name="椭圆 38"/>
          <p:cNvSpPr/>
          <p:nvPr>
            <p:custDataLst>
              <p:tags r:id="rId17"/>
            </p:custDataLst>
          </p:nvPr>
        </p:nvSpPr>
        <p:spPr>
          <a:xfrm>
            <a:off x="3904989" y="3215164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3866794" y="3222986"/>
            <a:ext cx="58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/>
          <p:cNvSpPr/>
          <p:nvPr>
            <p:custDataLst>
              <p:tags r:id="rId19"/>
            </p:custDataLst>
          </p:nvPr>
        </p:nvSpPr>
        <p:spPr>
          <a:xfrm>
            <a:off x="3763384" y="4104164"/>
            <a:ext cx="3804920" cy="9652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4703819" y="4169232"/>
            <a:ext cx="28644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项目创新以及特色</a:t>
            </a:r>
          </a:p>
        </p:txBody>
      </p:sp>
      <p:sp>
        <p:nvSpPr>
          <p:cNvPr id="43" name="椭圆 42"/>
          <p:cNvSpPr/>
          <p:nvPr>
            <p:custDataLst>
              <p:tags r:id="rId21"/>
            </p:custDataLst>
          </p:nvPr>
        </p:nvSpPr>
        <p:spPr>
          <a:xfrm>
            <a:off x="3904989" y="4171474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22"/>
            </p:custDataLst>
          </p:nvPr>
        </p:nvSpPr>
        <p:spPr>
          <a:xfrm>
            <a:off x="3906894" y="4197509"/>
            <a:ext cx="58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6" name="流程图: 可选过程 5"/>
          <p:cNvSpPr/>
          <p:nvPr>
            <p:custDataLst>
              <p:tags r:id="rId23"/>
            </p:custDataLst>
          </p:nvPr>
        </p:nvSpPr>
        <p:spPr>
          <a:xfrm>
            <a:off x="3763383" y="5247483"/>
            <a:ext cx="3804083" cy="105412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4"/>
            </p:custDataLst>
          </p:nvPr>
        </p:nvSpPr>
        <p:spPr>
          <a:xfrm>
            <a:off x="4703818" y="5347496"/>
            <a:ext cx="2494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已有工作基础及可行性分析</a:t>
            </a:r>
          </a:p>
        </p:txBody>
      </p:sp>
      <p:sp>
        <p:nvSpPr>
          <p:cNvPr id="8" name="椭圆 7"/>
          <p:cNvSpPr/>
          <p:nvPr>
            <p:custDataLst>
              <p:tags r:id="rId25"/>
            </p:custDataLst>
          </p:nvPr>
        </p:nvSpPr>
        <p:spPr>
          <a:xfrm>
            <a:off x="3904988" y="5351306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6"/>
            </p:custDataLst>
          </p:nvPr>
        </p:nvSpPr>
        <p:spPr>
          <a:xfrm>
            <a:off x="3906893" y="5377341"/>
            <a:ext cx="58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3F9B5819-C8E5-2083-8649-E84FD97C1038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8015445" y="304006"/>
            <a:ext cx="3804920" cy="95410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7D7468-4F54-9C0A-97E2-DE8C285052EB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8955880" y="367507"/>
            <a:ext cx="2125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项目实施方案及时间轴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175E9F2-047D-5FB4-F181-F520EE81A5C2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8157050" y="371317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6F4AA3-91CC-697F-E951-1D28ADAEB00A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8158955" y="397352"/>
            <a:ext cx="58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10" name="流程图: 可选过程 9">
            <a:extLst>
              <a:ext uri="{FF2B5EF4-FFF2-40B4-BE49-F238E27FC236}">
                <a16:creationId xmlns:a16="http://schemas.microsoft.com/office/drawing/2014/main" id="{0DE507AC-AD34-A28A-868A-67A228D6C616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8011428" y="1534308"/>
            <a:ext cx="3804920" cy="95410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41E03B-CA6A-C1D4-A454-7BB9CC4BBA4D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8951863" y="1597809"/>
            <a:ext cx="2125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项目预期成果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F03F7B6-9F23-45C7-FD58-7BEF85FF983A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153033" y="1601619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BE1060-441E-E34B-4F6F-BD88025EDA4B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8154938" y="1627654"/>
            <a:ext cx="58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17" name="流程图: 可选过程 16">
            <a:extLst>
              <a:ext uri="{FF2B5EF4-FFF2-40B4-BE49-F238E27FC236}">
                <a16:creationId xmlns:a16="http://schemas.microsoft.com/office/drawing/2014/main" id="{6230C2EC-B12A-9243-C3A7-15DC6F6471E6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7969038" y="2766955"/>
            <a:ext cx="3804920" cy="662046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1846D5-9979-D25D-3C34-8E9785F3522A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951863" y="2829383"/>
            <a:ext cx="2125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经费预算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1D81E41-DD16-4E9D-2B8C-73129920450C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8153033" y="2833193"/>
            <a:ext cx="504000" cy="504825"/>
          </a:xfrm>
          <a:prstGeom prst="ellipse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70B7FE-10B9-6DAE-0331-73ACDE159020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8154938" y="2859228"/>
            <a:ext cx="58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09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64540" y="292735"/>
            <a:ext cx="33991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研究背景与目的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494420-6A12-68E7-54B2-551D5A8A8B62}"/>
              </a:ext>
            </a:extLst>
          </p:cNvPr>
          <p:cNvSpPr txBox="1"/>
          <p:nvPr/>
        </p:nvSpPr>
        <p:spPr>
          <a:xfrm>
            <a:off x="1156626" y="1174793"/>
            <a:ext cx="94831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    鉴于在功耗受限或成本敏感的广泛应用场景中，部署高算力的深度学习模型往往不现实。而传统基于固定阈值的视觉识别方法技术局限性强，在使用中对于复杂环境下的表现并不佳。</a:t>
            </a:r>
            <a:br>
              <a:rPr lang="en-US" altLang="zh-CN" sz="2800" dirty="0"/>
            </a:br>
            <a:r>
              <a:rPr lang="en-US" altLang="zh-CN" sz="2800" dirty="0"/>
              <a:t>   </a:t>
            </a:r>
            <a:r>
              <a:rPr lang="zh-CN" altLang="en-US" sz="2800" dirty="0"/>
              <a:t>因此，本项目旨在开发一套基于</a:t>
            </a:r>
            <a:r>
              <a:rPr lang="en-US" altLang="zh-CN" sz="2800" dirty="0" err="1"/>
              <a:t>opencv</a:t>
            </a:r>
            <a:r>
              <a:rPr lang="en-US" altLang="zh-CN" sz="2800" dirty="0"/>
              <a:t> </a:t>
            </a:r>
            <a:r>
              <a:rPr lang="zh-CN" altLang="en-US" sz="2800" dirty="0"/>
              <a:t>、专为低算力嵌入式平台优化的轻量化视觉识别与定位系统。从而实现在有限资源下，对特定目标的准确识别与定位。</a:t>
            </a:r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1DF2-354D-593D-1E1B-94354E322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0089B8-728C-7A49-FC39-8AEFE4345FF1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5F1736-A358-1EF1-AE5F-3386D425A9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64540" y="292735"/>
            <a:ext cx="3399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核心研究内容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5807F0-BC82-5942-C7C2-C6CB55794303}"/>
              </a:ext>
            </a:extLst>
          </p:cNvPr>
          <p:cNvSpPr/>
          <p:nvPr/>
        </p:nvSpPr>
        <p:spPr>
          <a:xfrm>
            <a:off x="3857438" y="3061122"/>
            <a:ext cx="1253516" cy="59950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图像预处理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6E74DFF-6B49-2216-A9B8-9BE68C63EF4D}"/>
              </a:ext>
            </a:extLst>
          </p:cNvPr>
          <p:cNvCxnSpPr>
            <a:cxnSpLocks/>
          </p:cNvCxnSpPr>
          <p:nvPr/>
        </p:nvCxnSpPr>
        <p:spPr>
          <a:xfrm>
            <a:off x="5098840" y="3321513"/>
            <a:ext cx="1108181" cy="12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513790E0-2736-2386-C6DB-FD64C2AFBCB8}"/>
              </a:ext>
            </a:extLst>
          </p:cNvPr>
          <p:cNvSpPr/>
          <p:nvPr/>
        </p:nvSpPr>
        <p:spPr>
          <a:xfrm>
            <a:off x="6207022" y="3027817"/>
            <a:ext cx="1253516" cy="69033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特征提取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870A044-F57F-BBAA-3B9C-911CB6231F5A}"/>
              </a:ext>
            </a:extLst>
          </p:cNvPr>
          <p:cNvCxnSpPr>
            <a:cxnSpLocks/>
          </p:cNvCxnSpPr>
          <p:nvPr/>
        </p:nvCxnSpPr>
        <p:spPr>
          <a:xfrm>
            <a:off x="2746225" y="3360874"/>
            <a:ext cx="1108181" cy="12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53C910D-BCF4-A3B9-508B-5A0DDB7D15D0}"/>
              </a:ext>
            </a:extLst>
          </p:cNvPr>
          <p:cNvCxnSpPr>
            <a:cxnSpLocks/>
          </p:cNvCxnSpPr>
          <p:nvPr/>
        </p:nvCxnSpPr>
        <p:spPr>
          <a:xfrm>
            <a:off x="7451456" y="3372986"/>
            <a:ext cx="1108181" cy="12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9CE42FD-BDF3-A843-B3E2-046D8BDADF17}"/>
              </a:ext>
            </a:extLst>
          </p:cNvPr>
          <p:cNvSpPr/>
          <p:nvPr/>
        </p:nvSpPr>
        <p:spPr>
          <a:xfrm>
            <a:off x="1501791" y="2988456"/>
            <a:ext cx="1253516" cy="69033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图像采集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E5BAF3-B05E-850F-4C91-D70D07BCF75C}"/>
              </a:ext>
            </a:extLst>
          </p:cNvPr>
          <p:cNvSpPr/>
          <p:nvPr/>
        </p:nvSpPr>
        <p:spPr>
          <a:xfrm>
            <a:off x="8559638" y="3027816"/>
            <a:ext cx="1253516" cy="69033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结果输出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FFEBAC2-512E-16A9-D0C9-F39E7D0AF64A}"/>
              </a:ext>
            </a:extLst>
          </p:cNvPr>
          <p:cNvCxnSpPr>
            <a:cxnSpLocks/>
          </p:cNvCxnSpPr>
          <p:nvPr/>
        </p:nvCxnSpPr>
        <p:spPr>
          <a:xfrm>
            <a:off x="3060615" y="2073790"/>
            <a:ext cx="804893" cy="99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F3617960-8350-8049-2689-FF658D3180F7}"/>
              </a:ext>
            </a:extLst>
          </p:cNvPr>
          <p:cNvSpPr txBox="1"/>
          <p:nvPr/>
        </p:nvSpPr>
        <p:spPr>
          <a:xfrm>
            <a:off x="988580" y="1626749"/>
            <a:ext cx="2119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对低照度与动态光照下的图像预处理增强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A5CF50C-E255-E673-E3C1-A352EEC1C20C}"/>
              </a:ext>
            </a:extLst>
          </p:cNvPr>
          <p:cNvCxnSpPr>
            <a:cxnSpLocks/>
            <a:endCxn id="55" idx="3"/>
          </p:cNvCxnSpPr>
          <p:nvPr/>
        </p:nvCxnSpPr>
        <p:spPr>
          <a:xfrm flipH="1">
            <a:off x="3245817" y="3660626"/>
            <a:ext cx="608589" cy="1077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BBD6EDD0-36D3-DFC0-5FD5-A2453D73FD57}"/>
              </a:ext>
            </a:extLst>
          </p:cNvPr>
          <p:cNvSpPr txBox="1"/>
          <p:nvPr/>
        </p:nvSpPr>
        <p:spPr>
          <a:xfrm>
            <a:off x="968901" y="4414554"/>
            <a:ext cx="2276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自适应阈值分割与形态学分割算法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11FCC2DC-2D39-05A4-71BA-73CF3D7D2154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046547" y="2307194"/>
            <a:ext cx="787233" cy="720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F3A4B93F-9CBE-A3AC-2472-B9EF78925281}"/>
              </a:ext>
            </a:extLst>
          </p:cNvPr>
          <p:cNvSpPr txBox="1"/>
          <p:nvPr/>
        </p:nvSpPr>
        <p:spPr>
          <a:xfrm>
            <a:off x="5110954" y="1545778"/>
            <a:ext cx="1871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目标特征提取与多目标管理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1323E83-38F0-B485-20E3-71927C130A13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8078215" y="3433541"/>
            <a:ext cx="330031" cy="908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FFBD6630-1CCE-D441-E359-74DFB3239180}"/>
              </a:ext>
            </a:extLst>
          </p:cNvPr>
          <p:cNvSpPr txBox="1"/>
          <p:nvPr/>
        </p:nvSpPr>
        <p:spPr>
          <a:xfrm>
            <a:off x="7451456" y="4341887"/>
            <a:ext cx="1913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相机标定与像素到物理坐标转换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2F15DB2-0670-97E8-5279-93C2D0FA7488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186396" y="2406544"/>
            <a:ext cx="629789" cy="621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C8424F5C-C28E-AB74-4D5F-6A980F55500A}"/>
              </a:ext>
            </a:extLst>
          </p:cNvPr>
          <p:cNvSpPr txBox="1"/>
          <p:nvPr/>
        </p:nvSpPr>
        <p:spPr>
          <a:xfrm>
            <a:off x="8665605" y="1545778"/>
            <a:ext cx="2391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嵌入式系统集成与高效串口通讯协议</a:t>
            </a:r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FF3A347E-B903-8218-5E18-DE1D30E776D1}"/>
              </a:ext>
            </a:extLst>
          </p:cNvPr>
          <p:cNvSpPr/>
          <p:nvPr/>
        </p:nvSpPr>
        <p:spPr>
          <a:xfrm>
            <a:off x="1068815" y="4136781"/>
            <a:ext cx="2119470" cy="1036751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可选过程 7">
            <a:extLst>
              <a:ext uri="{FF2B5EF4-FFF2-40B4-BE49-F238E27FC236}">
                <a16:creationId xmlns:a16="http://schemas.microsoft.com/office/drawing/2014/main" id="{97488159-CB0A-9007-9D4F-9FFEDAF0C7A5}"/>
              </a:ext>
            </a:extLst>
          </p:cNvPr>
          <p:cNvSpPr/>
          <p:nvPr/>
        </p:nvSpPr>
        <p:spPr>
          <a:xfrm>
            <a:off x="924744" y="1560328"/>
            <a:ext cx="2119470" cy="1036751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744A9E8B-A33B-E866-4948-65F7AAA6A1FA}"/>
              </a:ext>
            </a:extLst>
          </p:cNvPr>
          <p:cNvSpPr/>
          <p:nvPr/>
        </p:nvSpPr>
        <p:spPr>
          <a:xfrm>
            <a:off x="4986812" y="1460665"/>
            <a:ext cx="2119470" cy="846529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>
            <a:extLst>
              <a:ext uri="{FF2B5EF4-FFF2-40B4-BE49-F238E27FC236}">
                <a16:creationId xmlns:a16="http://schemas.microsoft.com/office/drawing/2014/main" id="{1329C7B8-7F7B-6905-09BF-BE6371A6A251}"/>
              </a:ext>
            </a:extLst>
          </p:cNvPr>
          <p:cNvSpPr/>
          <p:nvPr/>
        </p:nvSpPr>
        <p:spPr>
          <a:xfrm>
            <a:off x="7348510" y="4341887"/>
            <a:ext cx="2119470" cy="690339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50F87912-BE0E-7B27-3CEA-C9487E3B3BB0}"/>
              </a:ext>
            </a:extLst>
          </p:cNvPr>
          <p:cNvSpPr/>
          <p:nvPr/>
        </p:nvSpPr>
        <p:spPr>
          <a:xfrm>
            <a:off x="8756450" y="1369793"/>
            <a:ext cx="2119470" cy="1036751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29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19F8-6E45-A3AE-3A12-A0E977AE8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6E6962-BFAE-653E-FB3A-700E2D92D09D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B29AA4-3AB4-6D05-87B9-8D1DB6C11C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16095" y="292735"/>
            <a:ext cx="4994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国内外研究现状和发展动态</a:t>
            </a:r>
            <a:endParaRPr lang="en-US" altLang="zh-CN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DDCB52-4A5F-03AB-6B18-B02283D61811}"/>
              </a:ext>
            </a:extLst>
          </p:cNvPr>
          <p:cNvSpPr txBox="1"/>
          <p:nvPr/>
        </p:nvSpPr>
        <p:spPr>
          <a:xfrm>
            <a:off x="540482" y="916763"/>
            <a:ext cx="52668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国外：</a:t>
            </a:r>
            <a:endParaRPr lang="en-US" altLang="zh-CN" sz="2400" dirty="0"/>
          </a:p>
          <a:p>
            <a:r>
              <a:rPr lang="zh-CN" altLang="en-US" sz="2400" dirty="0"/>
              <a:t>以</a:t>
            </a:r>
            <a:r>
              <a:rPr lang="en-US" altLang="zh-CN" sz="2400" dirty="0" err="1"/>
              <a:t>opencv</a:t>
            </a:r>
            <a:r>
              <a:rPr lang="zh-CN" altLang="en-US" sz="2400" dirty="0"/>
              <a:t>为代表的开源计算机视觉库集成了大量经典算法，至今仍是工业界和学术界的主流，特别是在低算力应用场景下。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78DB18-86C3-F7D6-842D-26F042275B0F}"/>
              </a:ext>
            </a:extLst>
          </p:cNvPr>
          <p:cNvSpPr txBox="1"/>
          <p:nvPr/>
        </p:nvSpPr>
        <p:spPr>
          <a:xfrm>
            <a:off x="5940573" y="916762"/>
            <a:ext cx="53713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国内：</a:t>
            </a:r>
            <a:endParaRPr lang="en-US" altLang="zh-CN" sz="2400" dirty="0"/>
          </a:p>
          <a:p>
            <a:r>
              <a:rPr lang="zh-CN" altLang="en-US" sz="2400" dirty="0"/>
              <a:t>我国在深度学习视觉应用上处于世界领先水平。但在嵌入式和低成本的领域，传统方法仍然应用广泛。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78045A-EB1D-5592-8D8B-8FB1560BF7F3}"/>
              </a:ext>
            </a:extLst>
          </p:cNvPr>
          <p:cNvSpPr txBox="1"/>
          <p:nvPr/>
        </p:nvSpPr>
        <p:spPr>
          <a:xfrm>
            <a:off x="443592" y="3018118"/>
            <a:ext cx="10196149" cy="19389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发展动态：</a:t>
            </a:r>
            <a:br>
              <a:rPr lang="en-US" altLang="zh-CN" sz="2400" dirty="0"/>
            </a:br>
            <a:r>
              <a:rPr lang="zh-CN" altLang="en-US" sz="2400" dirty="0"/>
              <a:t>深度学习</a:t>
            </a:r>
            <a:r>
              <a:rPr lang="en-US" altLang="zh-CN" sz="2400" dirty="0"/>
              <a:t>—&gt;</a:t>
            </a:r>
            <a:r>
              <a:rPr lang="zh-CN" altLang="en-US" sz="2400" dirty="0"/>
              <a:t>轻量化、边缘化发展。</a:t>
            </a:r>
            <a:endParaRPr lang="en-US" altLang="zh-CN" sz="2400" dirty="0"/>
          </a:p>
          <a:p>
            <a:r>
              <a:rPr lang="zh-CN" altLang="en-US" sz="2400" dirty="0"/>
              <a:t>传统算法</a:t>
            </a:r>
            <a:r>
              <a:rPr lang="en-US" altLang="zh-CN" sz="2400" dirty="0"/>
              <a:t>—&gt;</a:t>
            </a:r>
            <a:r>
              <a:rPr lang="zh-CN" altLang="en-US" sz="2400" dirty="0"/>
              <a:t>“文艺复兴”与深度优化。</a:t>
            </a:r>
            <a:endParaRPr lang="en-US" altLang="zh-CN" sz="2400" dirty="0"/>
          </a:p>
          <a:p>
            <a:r>
              <a:rPr lang="zh-CN" altLang="en-US" sz="2400" dirty="0"/>
              <a:t>对于功耗受限的场景，通过优化传统视觉识别算法，能够拥有超越简单神经网络的性能。</a:t>
            </a:r>
          </a:p>
        </p:txBody>
      </p:sp>
      <p:sp>
        <p:nvSpPr>
          <p:cNvPr id="7" name="流程图: 可选过程 6">
            <a:extLst>
              <a:ext uri="{FF2B5EF4-FFF2-40B4-BE49-F238E27FC236}">
                <a16:creationId xmlns:a16="http://schemas.microsoft.com/office/drawing/2014/main" id="{BB8F3D27-D44B-17A2-C842-E01C2BE658B6}"/>
              </a:ext>
            </a:extLst>
          </p:cNvPr>
          <p:cNvSpPr/>
          <p:nvPr/>
        </p:nvSpPr>
        <p:spPr>
          <a:xfrm>
            <a:off x="407258" y="916763"/>
            <a:ext cx="5228456" cy="1856126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4C0A799F-7208-9416-0415-E5BA8FEF653A}"/>
              </a:ext>
            </a:extLst>
          </p:cNvPr>
          <p:cNvSpPr/>
          <p:nvPr/>
        </p:nvSpPr>
        <p:spPr>
          <a:xfrm>
            <a:off x="5940573" y="916762"/>
            <a:ext cx="5471614" cy="1856126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7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9EFA-05E1-9A3A-B9CC-6280D31F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EC4794-BAEE-5D56-ACC6-9D8D7F730E0D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C3630E-0514-7475-F9A2-C32CD04D90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987" y="267335"/>
            <a:ext cx="51033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04 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研究路线及解决的主要问题</a:t>
            </a:r>
          </a:p>
          <a:p>
            <a:pPr algn="l"/>
            <a:endParaRPr lang="zh-CN" altLang="en-US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1350AA-5DEF-F65F-C9CB-EF3E555530D3}"/>
              </a:ext>
            </a:extLst>
          </p:cNvPr>
          <p:cNvSpPr/>
          <p:nvPr/>
        </p:nvSpPr>
        <p:spPr>
          <a:xfrm>
            <a:off x="3270807" y="1394527"/>
            <a:ext cx="1374628" cy="64795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63E26F-D567-F151-A08E-8A14A3C68F3B}"/>
              </a:ext>
            </a:extLst>
          </p:cNvPr>
          <p:cNvSpPr txBox="1"/>
          <p:nvPr/>
        </p:nvSpPr>
        <p:spPr>
          <a:xfrm>
            <a:off x="3376397" y="1542702"/>
            <a:ext cx="1163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/>
              <a:t>场景分析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3D61F4-E464-E305-D73C-C102D561F3BF}"/>
              </a:ext>
            </a:extLst>
          </p:cNvPr>
          <p:cNvSpPr/>
          <p:nvPr/>
        </p:nvSpPr>
        <p:spPr>
          <a:xfrm>
            <a:off x="6705358" y="2048129"/>
            <a:ext cx="1374628" cy="64795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2EEB32-53B0-6A1D-1B8B-D3E64E5D76E5}"/>
              </a:ext>
            </a:extLst>
          </p:cNvPr>
          <p:cNvSpPr txBox="1"/>
          <p:nvPr/>
        </p:nvSpPr>
        <p:spPr>
          <a:xfrm>
            <a:off x="3528918" y="3181782"/>
            <a:ext cx="1163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本地优化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CA960B-5D23-13C5-4BBC-202BF10B81CD}"/>
              </a:ext>
            </a:extLst>
          </p:cNvPr>
          <p:cNvSpPr/>
          <p:nvPr/>
        </p:nvSpPr>
        <p:spPr>
          <a:xfrm>
            <a:off x="3376397" y="3042472"/>
            <a:ext cx="1374628" cy="64795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296E8A-A4AB-0084-7EDC-9DCA992A6E5E}"/>
              </a:ext>
            </a:extLst>
          </p:cNvPr>
          <p:cNvSpPr txBox="1"/>
          <p:nvPr/>
        </p:nvSpPr>
        <p:spPr>
          <a:xfrm>
            <a:off x="6730015" y="4097696"/>
            <a:ext cx="1374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嵌入式移植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199CD8-CB12-9A46-0FF8-42411FC28CF3}"/>
              </a:ext>
            </a:extLst>
          </p:cNvPr>
          <p:cNvSpPr/>
          <p:nvPr/>
        </p:nvSpPr>
        <p:spPr>
          <a:xfrm>
            <a:off x="6730015" y="3981064"/>
            <a:ext cx="1374628" cy="64795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844E477-17BD-1872-F8B7-5E382869D5ED}"/>
              </a:ext>
            </a:extLst>
          </p:cNvPr>
          <p:cNvSpPr txBox="1"/>
          <p:nvPr/>
        </p:nvSpPr>
        <p:spPr>
          <a:xfrm>
            <a:off x="3470259" y="4945966"/>
            <a:ext cx="1163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系统集成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469916E-1AC4-4409-FF7F-3EE62F28E89E}"/>
              </a:ext>
            </a:extLst>
          </p:cNvPr>
          <p:cNvCxnSpPr>
            <a:cxnSpLocks/>
          </p:cNvCxnSpPr>
          <p:nvPr/>
        </p:nvCxnSpPr>
        <p:spPr>
          <a:xfrm>
            <a:off x="4645435" y="1727368"/>
            <a:ext cx="2084580" cy="687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DA8EE2A-DDCE-E41C-A363-F0CD8362272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739297" y="2372105"/>
            <a:ext cx="1966061" cy="1037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8924355-7DFA-8377-65EC-BDCCD85246DB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767365" y="3429000"/>
            <a:ext cx="1962650" cy="876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79757892-4396-202C-2124-3092E576FE0E}"/>
              </a:ext>
            </a:extLst>
          </p:cNvPr>
          <p:cNvSpPr txBox="1"/>
          <p:nvPr/>
        </p:nvSpPr>
        <p:spPr>
          <a:xfrm>
            <a:off x="809021" y="1065613"/>
            <a:ext cx="2208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深入分析目标应用场景</a:t>
            </a:r>
            <a:r>
              <a:rPr lang="zh-CN" altLang="en-US" dirty="0"/>
              <a:t>相关特点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7EEA675-098C-2ED7-94F7-B11634D7CB36}"/>
              </a:ext>
            </a:extLst>
          </p:cNvPr>
          <p:cNvSpPr txBox="1"/>
          <p:nvPr/>
        </p:nvSpPr>
        <p:spPr>
          <a:xfrm>
            <a:off x="8079986" y="1473074"/>
            <a:ext cx="2688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在</a:t>
            </a:r>
            <a:r>
              <a:rPr lang="en-US" altLang="zh-CN" dirty="0"/>
              <a:t>PC</a:t>
            </a:r>
            <a:r>
              <a:rPr lang="zh-CN" altLang="zh-CN" dirty="0"/>
              <a:t>端使用</a:t>
            </a:r>
            <a:r>
              <a:rPr lang="en-US" altLang="zh-CN" dirty="0"/>
              <a:t>OpenCV</a:t>
            </a:r>
            <a:r>
              <a:rPr lang="zh-CN" altLang="zh-CN" dirty="0"/>
              <a:t>和</a:t>
            </a:r>
            <a:r>
              <a:rPr lang="en-US" altLang="zh-CN" dirty="0"/>
              <a:t>Python/C++</a:t>
            </a:r>
            <a:r>
              <a:rPr lang="zh-CN" altLang="zh-CN" dirty="0"/>
              <a:t>进行算法原型快速开发与验证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8DF3312-3079-2D8F-06C9-6B6695CC8AC4}"/>
              </a:ext>
            </a:extLst>
          </p:cNvPr>
          <p:cNvSpPr txBox="1"/>
          <p:nvPr/>
        </p:nvSpPr>
        <p:spPr>
          <a:xfrm>
            <a:off x="764542" y="3263984"/>
            <a:ext cx="2208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验证有效的算法进行</a:t>
            </a:r>
            <a:r>
              <a:rPr lang="en-US" altLang="zh-CN" dirty="0"/>
              <a:t>C++</a:t>
            </a:r>
            <a:r>
              <a:rPr lang="zh-CN" altLang="zh-CN" dirty="0"/>
              <a:t>重写和深度优化，</a:t>
            </a:r>
            <a:r>
              <a:rPr lang="zh-CN" altLang="en-US" dirty="0"/>
              <a:t>并移植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B43C777-7EE1-AB21-C6F4-C03CCF86477D}"/>
              </a:ext>
            </a:extLst>
          </p:cNvPr>
          <p:cNvSpPr txBox="1"/>
          <p:nvPr/>
        </p:nvSpPr>
        <p:spPr>
          <a:xfrm>
            <a:off x="1113823" y="4836339"/>
            <a:ext cx="1903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集成测试，优化算法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32586E0-52E8-538D-FF98-4D08D52EE1A5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4739297" y="4286998"/>
            <a:ext cx="1911752" cy="895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B1DEBF0-CB0F-8727-4DAC-04347E513B7B}"/>
              </a:ext>
            </a:extLst>
          </p:cNvPr>
          <p:cNvSpPr/>
          <p:nvPr/>
        </p:nvSpPr>
        <p:spPr>
          <a:xfrm>
            <a:off x="3364669" y="4858227"/>
            <a:ext cx="1374628" cy="64795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E836FEB-5468-4EE0-3FAD-A9BD14F87535}"/>
              </a:ext>
            </a:extLst>
          </p:cNvPr>
          <p:cNvSpPr txBox="1"/>
          <p:nvPr/>
        </p:nvSpPr>
        <p:spPr>
          <a:xfrm>
            <a:off x="6835605" y="2188194"/>
            <a:ext cx="123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算法选型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13DD486-ED77-75CA-879C-C07E69001EED}"/>
              </a:ext>
            </a:extLst>
          </p:cNvPr>
          <p:cNvSpPr txBox="1"/>
          <p:nvPr/>
        </p:nvSpPr>
        <p:spPr>
          <a:xfrm>
            <a:off x="8372553" y="3867020"/>
            <a:ext cx="27504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将优化后的代码库交叉编译，移植到目标嵌入式</a:t>
            </a:r>
            <a:r>
              <a:rPr lang="en-US" altLang="zh-CN" dirty="0"/>
              <a:t>Linux</a:t>
            </a:r>
            <a:r>
              <a:rPr lang="zh-CN" altLang="en-US" dirty="0"/>
              <a:t>或</a:t>
            </a:r>
            <a:r>
              <a:rPr lang="en-US" altLang="zh-CN" dirty="0"/>
              <a:t>RTOS</a:t>
            </a:r>
            <a:r>
              <a:rPr lang="zh-CN" altLang="en-US" dirty="0"/>
              <a:t>平台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99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DEC7-97BD-C9ED-8F40-067EB9E2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4EEA37-6AFC-9E84-9D4E-14E8DAAC10A1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5DA307-8F52-0B2E-5B96-7F179F545A6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2987" y="267335"/>
            <a:ext cx="51033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04 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研究路线及解决的主要问题</a:t>
            </a:r>
          </a:p>
          <a:p>
            <a:pPr algn="l"/>
            <a:endParaRPr lang="zh-CN" altLang="en-US" sz="2800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DAB0F73-8F9D-8762-BCA8-0E1BD882DFE5}"/>
              </a:ext>
            </a:extLst>
          </p:cNvPr>
          <p:cNvSpPr/>
          <p:nvPr/>
        </p:nvSpPr>
        <p:spPr>
          <a:xfrm>
            <a:off x="5080125" y="3126630"/>
            <a:ext cx="1777600" cy="111836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E9FBDA-562F-20F9-2064-569C5F68C9BB}"/>
              </a:ext>
            </a:extLst>
          </p:cNvPr>
          <p:cNvSpPr txBox="1"/>
          <p:nvPr/>
        </p:nvSpPr>
        <p:spPr>
          <a:xfrm>
            <a:off x="5298675" y="3463820"/>
            <a:ext cx="1431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主要问题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35E1C0E-F7AB-782C-3CF4-89EFF0BCA1D0}"/>
              </a:ext>
            </a:extLst>
          </p:cNvPr>
          <p:cNvCxnSpPr>
            <a:cxnSpLocks/>
          </p:cNvCxnSpPr>
          <p:nvPr/>
        </p:nvCxnSpPr>
        <p:spPr>
          <a:xfrm>
            <a:off x="4372690" y="2415117"/>
            <a:ext cx="1035545" cy="858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63A86C-115C-21EA-5406-71A06AD6BB90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6597402" y="2516114"/>
            <a:ext cx="1214359" cy="774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361BDC8-17C8-75F0-E9B1-E4A30B82F045}"/>
              </a:ext>
            </a:extLst>
          </p:cNvPr>
          <p:cNvCxnSpPr>
            <a:cxnSpLocks/>
            <a:stCxn id="5" idx="3"/>
            <a:endCxn id="9" idx="3"/>
          </p:cNvCxnSpPr>
          <p:nvPr/>
        </p:nvCxnSpPr>
        <p:spPr>
          <a:xfrm flipH="1">
            <a:off x="4360050" y="4081215"/>
            <a:ext cx="980398" cy="684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1B92097-BFCE-F979-DD91-094D3E7E9EC5}"/>
              </a:ext>
            </a:extLst>
          </p:cNvPr>
          <p:cNvCxnSpPr>
            <a:stCxn id="5" idx="5"/>
          </p:cNvCxnSpPr>
          <p:nvPr/>
        </p:nvCxnSpPr>
        <p:spPr>
          <a:xfrm>
            <a:off x="6597402" y="4081215"/>
            <a:ext cx="1317305" cy="733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EFBDE9F-40EC-1C66-CACF-7B2299EEB905}"/>
              </a:ext>
            </a:extLst>
          </p:cNvPr>
          <p:cNvSpPr txBox="1"/>
          <p:nvPr/>
        </p:nvSpPr>
        <p:spPr>
          <a:xfrm>
            <a:off x="1626682" y="1739236"/>
            <a:ext cx="23374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复杂环境干扰下的识别鲁棒性问题</a:t>
            </a:r>
          </a:p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B44417-EDFC-649A-2D7F-5FC1B91DE639}"/>
              </a:ext>
            </a:extLst>
          </p:cNvPr>
          <p:cNvSpPr txBox="1"/>
          <p:nvPr/>
        </p:nvSpPr>
        <p:spPr>
          <a:xfrm>
            <a:off x="8053986" y="1945747"/>
            <a:ext cx="267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算法实时性与识别准确性的平衡问题</a:t>
            </a:r>
          </a:p>
          <a:p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A6EDEE-52E3-9D9D-4109-472EE57732FB}"/>
              </a:ext>
            </a:extLst>
          </p:cNvPr>
          <p:cNvSpPr txBox="1"/>
          <p:nvPr/>
        </p:nvSpPr>
        <p:spPr>
          <a:xfrm>
            <a:off x="1597684" y="4133010"/>
            <a:ext cx="22547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低算力平台上的资源高效利用问题</a:t>
            </a:r>
          </a:p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71B62B-5AB7-F9C1-4CD9-3F885489942D}"/>
              </a:ext>
            </a:extLst>
          </p:cNvPr>
          <p:cNvSpPr txBox="1"/>
          <p:nvPr/>
        </p:nvSpPr>
        <p:spPr>
          <a:xfrm>
            <a:off x="8221843" y="4364178"/>
            <a:ext cx="2573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视觉系统与主控系统的可靠协同问题</a:t>
            </a:r>
          </a:p>
          <a:p>
            <a:endParaRPr lang="zh-CN" altLang="en-US" dirty="0"/>
          </a:p>
        </p:txBody>
      </p:sp>
      <p:sp>
        <p:nvSpPr>
          <p:cNvPr id="4" name="流程图: 可选过程 3">
            <a:extLst>
              <a:ext uri="{FF2B5EF4-FFF2-40B4-BE49-F238E27FC236}">
                <a16:creationId xmlns:a16="http://schemas.microsoft.com/office/drawing/2014/main" id="{B648766C-E532-2CC0-C3C7-FB7A225A111A}"/>
              </a:ext>
            </a:extLst>
          </p:cNvPr>
          <p:cNvSpPr/>
          <p:nvPr/>
        </p:nvSpPr>
        <p:spPr>
          <a:xfrm>
            <a:off x="1448788" y="1476627"/>
            <a:ext cx="2911263" cy="1761782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流程图: 可选过程 6">
            <a:extLst>
              <a:ext uri="{FF2B5EF4-FFF2-40B4-BE49-F238E27FC236}">
                <a16:creationId xmlns:a16="http://schemas.microsoft.com/office/drawing/2014/main" id="{274F518C-6C23-62BA-F111-7D105E17EF7A}"/>
              </a:ext>
            </a:extLst>
          </p:cNvPr>
          <p:cNvSpPr/>
          <p:nvPr/>
        </p:nvSpPr>
        <p:spPr>
          <a:xfrm>
            <a:off x="7811761" y="1528629"/>
            <a:ext cx="2911263" cy="1761782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E1E3F7A7-120E-20C5-591C-BD17DB776889}"/>
              </a:ext>
            </a:extLst>
          </p:cNvPr>
          <p:cNvSpPr/>
          <p:nvPr/>
        </p:nvSpPr>
        <p:spPr>
          <a:xfrm>
            <a:off x="1448787" y="3884872"/>
            <a:ext cx="2911263" cy="1761782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AFEFCBDC-75FF-0A8F-0972-6A3E55FC2C78}"/>
              </a:ext>
            </a:extLst>
          </p:cNvPr>
          <p:cNvSpPr/>
          <p:nvPr/>
        </p:nvSpPr>
        <p:spPr>
          <a:xfrm>
            <a:off x="7914707" y="4004286"/>
            <a:ext cx="2911263" cy="1761782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409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97213-AB08-B77D-D828-9DC262B0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125732-73A2-F90B-274E-23A3B808BC59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3892EF-CE0D-CB60-18D4-F624AE9336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5096" y="337651"/>
            <a:ext cx="6120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项目创新以及特色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0EAA4E0-0B8E-4B32-BD01-27D9B678A1CF}"/>
              </a:ext>
            </a:extLst>
          </p:cNvPr>
          <p:cNvSpPr/>
          <p:nvPr/>
        </p:nvSpPr>
        <p:spPr>
          <a:xfrm>
            <a:off x="460690" y="1126372"/>
            <a:ext cx="415554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B5E4B8-3238-282F-DBBA-4D48E9E4F998}"/>
              </a:ext>
            </a:extLst>
          </p:cNvPr>
          <p:cNvSpPr txBox="1"/>
          <p:nvPr/>
        </p:nvSpPr>
        <p:spPr>
          <a:xfrm>
            <a:off x="1002087" y="1126372"/>
            <a:ext cx="7789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面向低算力平台的自适应视觉处理流水线优化</a:t>
            </a:r>
            <a:endParaRPr lang="zh-CN" altLang="en-US" sz="2400" b="1" dirty="0"/>
          </a:p>
        </p:txBody>
      </p:sp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020A1D4D-8A2D-5079-4F9C-7B53F3BFA918}"/>
              </a:ext>
            </a:extLst>
          </p:cNvPr>
          <p:cNvSpPr/>
          <p:nvPr/>
        </p:nvSpPr>
        <p:spPr>
          <a:xfrm>
            <a:off x="460690" y="1728588"/>
            <a:ext cx="8233236" cy="2031325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针对具体应用场景，对</a:t>
            </a:r>
            <a:r>
              <a:rPr lang="en-US" altLang="zh-CN" dirty="0"/>
              <a:t>OpenCV</a:t>
            </a:r>
            <a:r>
              <a:rPr lang="zh-CN" altLang="zh-CN" dirty="0"/>
              <a:t>中的经典算法进行精心筛选、组合与参数优化，构建一条高度定制化、计算高效且环境自适应的完整视觉处理流水线。其创新点体现在对</a:t>
            </a:r>
            <a:r>
              <a:rPr lang="en-US" altLang="zh-CN" dirty="0"/>
              <a:t>“</a:t>
            </a:r>
            <a:r>
              <a:rPr lang="zh-CN" altLang="zh-CN" dirty="0"/>
              <a:t>图像预处理</a:t>
            </a:r>
            <a:r>
              <a:rPr lang="en-US" altLang="zh-CN" dirty="0"/>
              <a:t>-&gt;</a:t>
            </a:r>
            <a:r>
              <a:rPr lang="zh-CN" altLang="zh-CN" dirty="0"/>
              <a:t>色彩空间分析</a:t>
            </a:r>
            <a:r>
              <a:rPr lang="en-US" altLang="zh-CN" dirty="0"/>
              <a:t>-&gt;</a:t>
            </a:r>
            <a:r>
              <a:rPr lang="zh-CN" altLang="zh-CN" dirty="0"/>
              <a:t>动态阈值</a:t>
            </a:r>
            <a:r>
              <a:rPr lang="en-US" altLang="zh-CN" dirty="0"/>
              <a:t>-&gt;</a:t>
            </a:r>
            <a:r>
              <a:rPr lang="zh-CN" altLang="zh-CN" dirty="0"/>
              <a:t>形态学优化</a:t>
            </a:r>
            <a:r>
              <a:rPr lang="en-US" altLang="zh-CN" dirty="0"/>
              <a:t>-&gt;</a:t>
            </a:r>
            <a:r>
              <a:rPr lang="zh-CN" altLang="zh-CN" dirty="0"/>
              <a:t>多特征过滤</a:t>
            </a:r>
            <a:r>
              <a:rPr lang="en-US" altLang="zh-CN" dirty="0"/>
              <a:t>”</a:t>
            </a:r>
            <a:r>
              <a:rPr lang="zh-CN" altLang="zh-CN" dirty="0"/>
              <a:t>这一链条的整体调优策略上，使其在有限资源下达到最优的鲁棒性。</a:t>
            </a:r>
          </a:p>
          <a:p>
            <a:pPr algn="ctr"/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58DA913-2107-6B84-97D9-A6C16FA770DE}"/>
              </a:ext>
            </a:extLst>
          </p:cNvPr>
          <p:cNvSpPr/>
          <p:nvPr/>
        </p:nvSpPr>
        <p:spPr>
          <a:xfrm>
            <a:off x="460690" y="3918730"/>
            <a:ext cx="415554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58E164-2324-783D-E3E4-6D4A38F339E5}"/>
              </a:ext>
            </a:extLst>
          </p:cNvPr>
          <p:cNvSpPr txBox="1"/>
          <p:nvPr/>
        </p:nvSpPr>
        <p:spPr>
          <a:xfrm>
            <a:off x="1002087" y="3874933"/>
            <a:ext cx="7789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“</a:t>
            </a:r>
            <a:r>
              <a:rPr lang="zh-CN" altLang="zh-CN" sz="2400" b="1" dirty="0"/>
              <a:t>软件算法</a:t>
            </a:r>
            <a:r>
              <a:rPr lang="en-US" altLang="zh-CN" sz="2400" b="1" dirty="0"/>
              <a:t>+</a:t>
            </a:r>
            <a:r>
              <a:rPr lang="zh-CN" altLang="zh-CN" sz="2400" b="1" dirty="0"/>
              <a:t>通信协议</a:t>
            </a:r>
            <a:r>
              <a:rPr lang="en-US" altLang="zh-CN" sz="2400" b="1" dirty="0"/>
              <a:t>”</a:t>
            </a:r>
            <a:r>
              <a:rPr lang="zh-CN" altLang="zh-CN" sz="2400" b="1" dirty="0"/>
              <a:t>的轻量化系统级解决方案</a:t>
            </a:r>
            <a:endParaRPr lang="zh-CN" altLang="en-US" sz="2400" b="1" dirty="0"/>
          </a:p>
        </p:txBody>
      </p:sp>
      <p:sp>
        <p:nvSpPr>
          <p:cNvPr id="14" name="流程图: 可选过程 13">
            <a:extLst>
              <a:ext uri="{FF2B5EF4-FFF2-40B4-BE49-F238E27FC236}">
                <a16:creationId xmlns:a16="http://schemas.microsoft.com/office/drawing/2014/main" id="{B2982482-BE6A-28A4-6C3C-352721711AB0}"/>
              </a:ext>
            </a:extLst>
          </p:cNvPr>
          <p:cNvSpPr/>
          <p:nvPr/>
        </p:nvSpPr>
        <p:spPr>
          <a:xfrm>
            <a:off x="460690" y="4489024"/>
            <a:ext cx="8233236" cy="2031325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zh-CN" dirty="0"/>
              <a:t>不仅提供识别算法，更提供一套从图像采集到数据输出的、经过验证的嵌入式系统集成方案和标准通信接口。</a:t>
            </a:r>
          </a:p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550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7E76-A402-4461-9009-F4A17505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652663-AC50-4AB1-F7B1-FAA72A23C3C4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3CFF10-C2ED-EB1C-6942-4157F5272C0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36971" y="343589"/>
            <a:ext cx="6120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项目创新以及特色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4B21943-8D4D-2424-6109-B24F27765BD5}"/>
              </a:ext>
            </a:extLst>
          </p:cNvPr>
          <p:cNvSpPr/>
          <p:nvPr/>
        </p:nvSpPr>
        <p:spPr>
          <a:xfrm>
            <a:off x="641350" y="1151906"/>
            <a:ext cx="415554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3FC5AE-F367-9B84-7BCB-D9892C4C613D}"/>
              </a:ext>
            </a:extLst>
          </p:cNvPr>
          <p:cNvSpPr txBox="1"/>
          <p:nvPr/>
        </p:nvSpPr>
        <p:spPr>
          <a:xfrm>
            <a:off x="1236185" y="1016951"/>
            <a:ext cx="1909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“</a:t>
            </a:r>
            <a:r>
              <a:rPr lang="zh-CN" altLang="zh-CN" sz="2400" b="1" dirty="0"/>
              <a:t>高性价比</a:t>
            </a:r>
            <a:endParaRPr lang="en-US" altLang="zh-CN" sz="2400" b="1" dirty="0"/>
          </a:p>
          <a:p>
            <a:r>
              <a:rPr lang="zh-CN" altLang="zh-CN" sz="2400" b="1" dirty="0"/>
              <a:t>高可行性</a:t>
            </a:r>
            <a:r>
              <a:rPr lang="en-US" altLang="zh-CN" sz="2400" b="1" dirty="0"/>
              <a:t>”</a:t>
            </a:r>
            <a:endParaRPr lang="zh-CN" altLang="en-US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10CFD9-DCC8-A6F0-F647-425B36965B5D}"/>
              </a:ext>
            </a:extLst>
          </p:cNvPr>
          <p:cNvSpPr txBox="1"/>
          <p:nvPr/>
        </p:nvSpPr>
        <p:spPr>
          <a:xfrm>
            <a:off x="641350" y="1900052"/>
            <a:ext cx="31587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/>
              <a:t>项目不依赖昂贵硬件或庞大算力，聚焦于利用成熟的开源工具和基础的硬件平台解决实际问题，技术路线清晰，成本可控，非常适合学生团队、初创公司或进行自动化改造的中小企业。</a:t>
            </a:r>
            <a:endParaRPr lang="en-US" altLang="zh-CN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CCC368C-20A3-61DB-12FB-70D02AFD8072}"/>
              </a:ext>
            </a:extLst>
          </p:cNvPr>
          <p:cNvSpPr/>
          <p:nvPr/>
        </p:nvSpPr>
        <p:spPr>
          <a:xfrm>
            <a:off x="6381091" y="1151906"/>
            <a:ext cx="415554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0B7CB59-C3AD-13FD-8208-B1CC192D291F}"/>
              </a:ext>
            </a:extLst>
          </p:cNvPr>
          <p:cNvSpPr/>
          <p:nvPr/>
        </p:nvSpPr>
        <p:spPr>
          <a:xfrm>
            <a:off x="585932" y="3983481"/>
            <a:ext cx="415554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42F902-2214-7E3A-C2D8-549AFC28C10E}"/>
              </a:ext>
            </a:extLst>
          </p:cNvPr>
          <p:cNvSpPr txBox="1"/>
          <p:nvPr/>
        </p:nvSpPr>
        <p:spPr>
          <a:xfrm>
            <a:off x="6896327" y="956057"/>
            <a:ext cx="270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极强的实践性与教育意义</a:t>
            </a:r>
            <a:endParaRPr lang="zh-CN" altLang="en-US" sz="24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6BA7A3-B40C-6EE4-F0A7-839956C427B0}"/>
              </a:ext>
            </a:extLst>
          </p:cNvPr>
          <p:cNvSpPr txBox="1"/>
          <p:nvPr/>
        </p:nvSpPr>
        <p:spPr>
          <a:xfrm>
            <a:off x="1009444" y="3865005"/>
            <a:ext cx="2630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成果模块化，应用前景广泛</a:t>
            </a:r>
          </a:p>
        </p:txBody>
      </p:sp>
      <p:sp>
        <p:nvSpPr>
          <p:cNvPr id="24" name="流程图: 可选过程 23">
            <a:extLst>
              <a:ext uri="{FF2B5EF4-FFF2-40B4-BE49-F238E27FC236}">
                <a16:creationId xmlns:a16="http://schemas.microsoft.com/office/drawing/2014/main" id="{4B4022B6-D6BF-2360-713D-E1DE0D3A59CF}"/>
              </a:ext>
            </a:extLst>
          </p:cNvPr>
          <p:cNvSpPr/>
          <p:nvPr/>
        </p:nvSpPr>
        <p:spPr>
          <a:xfrm>
            <a:off x="540410" y="1900052"/>
            <a:ext cx="3301258" cy="2031325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D006918-E623-980F-D2B7-C016AD3CC5E0}"/>
              </a:ext>
            </a:extLst>
          </p:cNvPr>
          <p:cNvSpPr txBox="1"/>
          <p:nvPr/>
        </p:nvSpPr>
        <p:spPr>
          <a:xfrm>
            <a:off x="6541367" y="2177051"/>
            <a:ext cx="28896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solidFill>
                  <a:schemeClr val="tx1"/>
                </a:solidFill>
              </a:rPr>
              <a:t>通过本项目，团队成员可以系统地学习计算机视觉的基础理论、</a:t>
            </a:r>
            <a:r>
              <a:rPr lang="en-US" altLang="zh-CN" dirty="0">
                <a:solidFill>
                  <a:schemeClr val="tx1"/>
                </a:solidFill>
              </a:rPr>
              <a:t>OpenCV</a:t>
            </a:r>
            <a:r>
              <a:rPr lang="zh-CN" altLang="zh-CN" dirty="0">
                <a:solidFill>
                  <a:schemeClr val="tx1"/>
                </a:solidFill>
              </a:rPr>
              <a:t>库的实际应用、嵌入式软件开发和系统集成调试的全过程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流程图: 可选过程 26">
            <a:extLst>
              <a:ext uri="{FF2B5EF4-FFF2-40B4-BE49-F238E27FC236}">
                <a16:creationId xmlns:a16="http://schemas.microsoft.com/office/drawing/2014/main" id="{6522A15B-8EDB-6F41-64D1-19B3E9B60D50}"/>
              </a:ext>
            </a:extLst>
          </p:cNvPr>
          <p:cNvSpPr/>
          <p:nvPr/>
        </p:nvSpPr>
        <p:spPr>
          <a:xfrm>
            <a:off x="559291" y="4696002"/>
            <a:ext cx="3301258" cy="2031325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20BD462-7900-ABD5-4571-BB637738BCBB}"/>
              </a:ext>
            </a:extLst>
          </p:cNvPr>
          <p:cNvSpPr txBox="1"/>
          <p:nvPr/>
        </p:nvSpPr>
        <p:spPr>
          <a:xfrm>
            <a:off x="585932" y="4828931"/>
            <a:ext cx="34478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solidFill>
                  <a:schemeClr val="tx1"/>
                </a:solidFill>
              </a:rPr>
              <a:t>完成的视觉识别模块可以作为一个独立的功能包，快速集成到各种需要目标检测、定位的系统中，如智能小车循迹、机械臂视觉抓取、产品流水线瑕疵检测、互动展项等，迁移成本低，应用灵活</a:t>
            </a:r>
            <a:r>
              <a:rPr lang="zh-CN" altLang="zh-CN" dirty="0"/>
              <a:t>。</a:t>
            </a:r>
            <a:endParaRPr lang="en-US" altLang="zh-CN" dirty="0"/>
          </a:p>
        </p:txBody>
      </p:sp>
      <p:sp>
        <p:nvSpPr>
          <p:cNvPr id="30" name="流程图: 可选过程 29">
            <a:extLst>
              <a:ext uri="{FF2B5EF4-FFF2-40B4-BE49-F238E27FC236}">
                <a16:creationId xmlns:a16="http://schemas.microsoft.com/office/drawing/2014/main" id="{CC89298B-16CD-D4D8-6335-F2EC5FCDED51}"/>
              </a:ext>
            </a:extLst>
          </p:cNvPr>
          <p:cNvSpPr/>
          <p:nvPr/>
        </p:nvSpPr>
        <p:spPr>
          <a:xfrm>
            <a:off x="6381091" y="2177051"/>
            <a:ext cx="3301258" cy="2031325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324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420F-B881-64C7-8058-981441B1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CB1018-E8E0-4A56-F634-9FC5D6E4E29E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94E15E-0E75-149E-9A12-78BE543FC9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5096" y="337651"/>
            <a:ext cx="6120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已有的工作基础及可行性分析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E87816-2576-386D-33E1-F74A7FCB8AE6}"/>
              </a:ext>
            </a:extLst>
          </p:cNvPr>
          <p:cNvSpPr txBox="1"/>
          <p:nvPr/>
        </p:nvSpPr>
        <p:spPr>
          <a:xfrm>
            <a:off x="520237" y="1265628"/>
            <a:ext cx="1037934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/>
              <a:t>一套现成的视觉识别的代码：具有较好的指导意义与借鉴价值，为我们提供设计方向</a:t>
            </a:r>
            <a:endParaRPr lang="en-US" altLang="zh-CN" sz="2800" dirty="0"/>
          </a:p>
          <a:p>
            <a:pPr lvl="0"/>
            <a:endParaRPr lang="en-US" altLang="zh-CN" sz="2800" dirty="0"/>
          </a:p>
          <a:p>
            <a:pPr lvl="0"/>
            <a:r>
              <a:rPr lang="zh-CN" altLang="en-US" sz="2800" dirty="0"/>
              <a:t>可行性分析：</a:t>
            </a:r>
            <a:endParaRPr lang="en-US" altLang="zh-CN" sz="2800" dirty="0"/>
          </a:p>
          <a:p>
            <a:pPr lvl="0"/>
            <a:r>
              <a:rPr lang="zh-CN" altLang="en-US" sz="2800" dirty="0"/>
              <a:t>目前市面上基于</a:t>
            </a:r>
            <a:r>
              <a:rPr lang="en-US" altLang="zh-CN" sz="2800" dirty="0" err="1"/>
              <a:t>opencv</a:t>
            </a:r>
            <a:r>
              <a:rPr lang="zh-CN" altLang="en-US" sz="2800" dirty="0"/>
              <a:t>的视觉识别技术已经较为成熟，对我们算法原型的设计有极大的指导意义。我们将在这些已有算法上开辟一条针对特殊需求的特化算法，满足识别与定位的需要。</a:t>
            </a:r>
            <a:endParaRPr lang="en-US" altLang="zh-CN" sz="2800" dirty="0"/>
          </a:p>
          <a:p>
            <a:pPr lvl="0"/>
            <a:r>
              <a:rPr lang="zh-CN" altLang="en-US" sz="2800" dirty="0"/>
              <a:t>本项目不需要昂贵的硬件或高算力平台支持，对于现阶段的我们这种技术是易于接触以及尝试的。</a:t>
            </a:r>
            <a:endParaRPr lang="en-US" altLang="zh-CN" sz="2800" dirty="0"/>
          </a:p>
          <a:p>
            <a:pPr lvl="0"/>
            <a:endParaRPr lang="en-US" altLang="zh-CN" sz="2800" dirty="0"/>
          </a:p>
          <a:p>
            <a:pPr lvl="0"/>
            <a:br>
              <a:rPr lang="en-US" altLang="zh-CN" sz="2800" dirty="0"/>
            </a:br>
            <a:endParaRPr lang="zh-CN" altLang="zh-CN" sz="2800" dirty="0"/>
          </a:p>
          <a:p>
            <a:endParaRPr lang="zh-CN" altLang="en-US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974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8FEE-5E1A-F727-2DC5-BD5B289B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688DDB-DE6E-3E38-C29C-6EE461CD8891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66AB07-FDE4-085F-8FE2-120950C38FA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00873" y="337652"/>
            <a:ext cx="6120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团队分工和时间轴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86B613-DD2E-AC0F-500D-685DED5698FC}"/>
              </a:ext>
            </a:extLst>
          </p:cNvPr>
          <p:cNvSpPr txBox="1"/>
          <p:nvPr/>
        </p:nvSpPr>
        <p:spPr>
          <a:xfrm>
            <a:off x="702453" y="1356461"/>
            <a:ext cx="1037934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视觉算法与嵌入式开发组（约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人）</a:t>
            </a:r>
            <a:r>
              <a:rPr lang="zh-CN" altLang="en-US" sz="2400" dirty="0"/>
              <a:t>：</a:t>
            </a:r>
            <a:r>
              <a:rPr lang="zh-CN" altLang="zh-CN" dirty="0"/>
              <a:t>该组合并了算法研究、核心代码编写和嵌入式平台软件适配的职责。</a:t>
            </a:r>
            <a:endParaRPr lang="en-US" altLang="zh-CN" dirty="0"/>
          </a:p>
          <a:p>
            <a:r>
              <a:rPr lang="zh-CN" altLang="zh-CN" sz="2400" b="1" dirty="0"/>
              <a:t>系统集成、测试与协议开发组（约</a:t>
            </a:r>
            <a:r>
              <a:rPr lang="en-US" altLang="zh-CN" sz="2400" b="1" dirty="0"/>
              <a:t>2</a:t>
            </a:r>
            <a:r>
              <a:rPr lang="zh-CN" altLang="zh-CN" sz="2400" b="1" dirty="0"/>
              <a:t>人）</a:t>
            </a:r>
            <a:r>
              <a:rPr lang="zh-CN" altLang="en-US" sz="2400" dirty="0"/>
              <a:t>：</a:t>
            </a:r>
            <a:r>
              <a:rPr lang="zh-CN" altLang="zh-CN" dirty="0"/>
              <a:t>该组承担了确保整个系统稳定、可靠、易用的关键职责。他们是项目从代码走向可演示、可应用产品的</a:t>
            </a:r>
            <a:r>
              <a:rPr lang="en-US" altLang="zh-CN" dirty="0"/>
              <a:t>“</a:t>
            </a:r>
            <a:r>
              <a:rPr lang="zh-CN" altLang="zh-CN" dirty="0"/>
              <a:t>桥梁</a:t>
            </a:r>
            <a:r>
              <a:rPr lang="en-US" altLang="zh-CN" dirty="0"/>
              <a:t>”</a:t>
            </a:r>
            <a:r>
              <a:rPr lang="zh-CN" altLang="zh-CN" dirty="0"/>
              <a:t>和</a:t>
            </a:r>
            <a:r>
              <a:rPr lang="en-US" altLang="zh-CN" dirty="0"/>
              <a:t>“</a:t>
            </a:r>
            <a:r>
              <a:rPr lang="zh-CN" altLang="zh-CN" dirty="0"/>
              <a:t>质检官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  <a:p>
            <a:endParaRPr lang="zh-CN" altLang="en-US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27B8E6-FE9E-C630-9DB3-424004871587}"/>
              </a:ext>
            </a:extLst>
          </p:cNvPr>
          <p:cNvSpPr txBox="1"/>
          <p:nvPr/>
        </p:nvSpPr>
        <p:spPr>
          <a:xfrm>
            <a:off x="702452" y="2916216"/>
            <a:ext cx="1037934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2800" b="1" dirty="0"/>
              <a:t>第一阶段：算法研究与</a:t>
            </a:r>
            <a:r>
              <a:rPr lang="en-US" altLang="zh-CN" sz="2800" b="1" dirty="0"/>
              <a:t>PC</a:t>
            </a:r>
            <a:r>
              <a:rPr lang="zh-CN" altLang="zh-CN" sz="2800" b="1" dirty="0"/>
              <a:t>端原型开发（</a:t>
            </a:r>
            <a:r>
              <a:rPr lang="en-US" altLang="zh-CN" sz="2800" b="1" dirty="0"/>
              <a:t>2</a:t>
            </a:r>
            <a:r>
              <a:rPr lang="zh-CN" altLang="zh-CN" sz="2800" b="1" dirty="0"/>
              <a:t>个月）</a:t>
            </a:r>
            <a:r>
              <a:rPr lang="zh-CN" altLang="zh-CN" sz="2800" dirty="0"/>
              <a:t>：完成目标场景分析和技术调研。在</a:t>
            </a:r>
            <a:r>
              <a:rPr lang="en-US" altLang="zh-CN" sz="2800" dirty="0"/>
              <a:t>PC</a:t>
            </a:r>
            <a:r>
              <a:rPr lang="zh-CN" altLang="zh-CN" sz="2800" dirty="0"/>
              <a:t>上使用</a:t>
            </a:r>
            <a:r>
              <a:rPr lang="en-US" altLang="zh-CN" sz="2800" dirty="0"/>
              <a:t>OpenCV Python</a:t>
            </a:r>
            <a:r>
              <a:rPr lang="zh-CN" altLang="zh-CN" sz="2800" dirty="0"/>
              <a:t>快速搭建算法原型</a:t>
            </a:r>
          </a:p>
          <a:p>
            <a:pPr lvl="0"/>
            <a:r>
              <a:rPr lang="zh-CN" altLang="zh-CN" sz="2800" b="1" dirty="0"/>
              <a:t>第二阶段：算法优化与</a:t>
            </a:r>
            <a:r>
              <a:rPr lang="en-US" altLang="zh-CN" sz="2800" b="1" dirty="0"/>
              <a:t>C++</a:t>
            </a:r>
            <a:r>
              <a:rPr lang="zh-CN" altLang="zh-CN" sz="2800" b="1" dirty="0"/>
              <a:t>移植（</a:t>
            </a:r>
            <a:r>
              <a:rPr lang="en-US" altLang="zh-CN" sz="2800" b="1" dirty="0"/>
              <a:t>2</a:t>
            </a:r>
            <a:r>
              <a:rPr lang="zh-CN" altLang="zh-CN" sz="2800" b="1" dirty="0"/>
              <a:t>个月）</a:t>
            </a:r>
            <a:r>
              <a:rPr lang="zh-CN" altLang="zh-CN" sz="2800" dirty="0"/>
              <a:t>：将验证有效的算法用</a:t>
            </a:r>
            <a:r>
              <a:rPr lang="en-US" altLang="zh-CN" sz="2800" dirty="0"/>
              <a:t>C++</a:t>
            </a:r>
            <a:r>
              <a:rPr lang="zh-CN" altLang="zh-CN" sz="2800" dirty="0"/>
              <a:t>重写，进行代码级优化。</a:t>
            </a:r>
            <a:endParaRPr lang="en-US" altLang="zh-CN" sz="2800" dirty="0"/>
          </a:p>
          <a:p>
            <a:pPr lvl="0"/>
            <a:r>
              <a:rPr lang="zh-CN" altLang="zh-CN" sz="2800" b="1" dirty="0"/>
              <a:t>第三阶段：嵌入式平台移植与初步集成（</a:t>
            </a:r>
            <a:r>
              <a:rPr lang="en-US" altLang="zh-CN" sz="2800" b="1" dirty="0"/>
              <a:t>2.5</a:t>
            </a:r>
            <a:r>
              <a:rPr lang="zh-CN" altLang="zh-CN" sz="2800" b="1" dirty="0"/>
              <a:t>个月）</a:t>
            </a:r>
            <a:r>
              <a:rPr lang="zh-CN" altLang="zh-CN" sz="2800" dirty="0"/>
              <a:t>：搭建目标嵌入式平台开发环境。</a:t>
            </a:r>
            <a:endParaRPr lang="en-US" altLang="zh-CN" sz="2800" dirty="0"/>
          </a:p>
          <a:p>
            <a:pPr lvl="0"/>
            <a:r>
              <a:rPr lang="zh-CN" altLang="zh-CN" sz="2800" b="1" dirty="0"/>
              <a:t>第四阶段：系统联调、测试与成果固化（</a:t>
            </a:r>
            <a:r>
              <a:rPr lang="en-US" altLang="zh-CN" sz="2800" b="1" dirty="0"/>
              <a:t>1.5</a:t>
            </a:r>
            <a:r>
              <a:rPr lang="zh-CN" altLang="zh-CN" sz="2800" b="1" dirty="0"/>
              <a:t>个月）</a:t>
            </a:r>
            <a:r>
              <a:rPr lang="zh-CN" altLang="zh-CN" sz="2800" dirty="0"/>
              <a:t>：开发完善的上位机调试软件。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9380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E4C0C-7687-AC35-CB11-355BEED8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E404BC-097F-A564-DA12-54C048FE559E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66564C-0253-14DC-2948-CB6745A7A6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5096" y="337651"/>
            <a:ext cx="6120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项目预期成果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03DDF5-727A-4970-E0A7-EF8531913A85}"/>
              </a:ext>
            </a:extLst>
          </p:cNvPr>
          <p:cNvSpPr txBox="1"/>
          <p:nvPr/>
        </p:nvSpPr>
        <p:spPr>
          <a:xfrm>
            <a:off x="696516" y="1331689"/>
            <a:ext cx="10379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endParaRPr lang="zh-CN" altLang="zh-CN" sz="2400" b="1" dirty="0"/>
          </a:p>
          <a:p>
            <a:endParaRPr lang="zh-CN" altLang="en-US" b="1" dirty="0">
              <a:solidFill>
                <a:srgbClr val="0A41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7AF21FA-14C1-4FB7-94BB-420659DD6D26}"/>
              </a:ext>
            </a:extLst>
          </p:cNvPr>
          <p:cNvSpPr/>
          <p:nvPr/>
        </p:nvSpPr>
        <p:spPr>
          <a:xfrm>
            <a:off x="1437390" y="1020436"/>
            <a:ext cx="415554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289FF1-9566-D199-F901-D2127FEA0EAE}"/>
              </a:ext>
            </a:extLst>
          </p:cNvPr>
          <p:cNvSpPr txBox="1"/>
          <p:nvPr/>
        </p:nvSpPr>
        <p:spPr>
          <a:xfrm>
            <a:off x="2032225" y="990359"/>
            <a:ext cx="1909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技术成果</a:t>
            </a:r>
            <a:endParaRPr lang="zh-CN" altLang="en-US" sz="2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431341-D028-49D5-5D52-FA31E31113BF}"/>
              </a:ext>
            </a:extLst>
          </p:cNvPr>
          <p:cNvSpPr txBox="1"/>
          <p:nvPr/>
        </p:nvSpPr>
        <p:spPr>
          <a:xfrm>
            <a:off x="1437390" y="1768582"/>
            <a:ext cx="3158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项目将交付一套完整的、针对低算力平台优化的视觉识别系统软件包。</a:t>
            </a:r>
            <a:endParaRPr lang="en-US" altLang="zh-CN" dirty="0"/>
          </a:p>
        </p:txBody>
      </p:sp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C6DBB904-D333-F609-E4A6-A5A4BA938417}"/>
              </a:ext>
            </a:extLst>
          </p:cNvPr>
          <p:cNvSpPr/>
          <p:nvPr/>
        </p:nvSpPr>
        <p:spPr>
          <a:xfrm>
            <a:off x="1294886" y="1565487"/>
            <a:ext cx="3301258" cy="1358684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A642B83-AA4F-8216-1117-36D66823A792}"/>
              </a:ext>
            </a:extLst>
          </p:cNvPr>
          <p:cNvSpPr/>
          <p:nvPr/>
        </p:nvSpPr>
        <p:spPr>
          <a:xfrm>
            <a:off x="1364722" y="3181703"/>
            <a:ext cx="488222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2220A6-5AFF-3AEE-EB3C-022A1E9F9103}"/>
              </a:ext>
            </a:extLst>
          </p:cNvPr>
          <p:cNvSpPr txBox="1"/>
          <p:nvPr/>
        </p:nvSpPr>
        <p:spPr>
          <a:xfrm>
            <a:off x="1959557" y="3151626"/>
            <a:ext cx="157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系统性能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74236C-7076-D40A-EACA-2757073462B0}"/>
              </a:ext>
            </a:extLst>
          </p:cNvPr>
          <p:cNvSpPr txBox="1"/>
          <p:nvPr/>
        </p:nvSpPr>
        <p:spPr>
          <a:xfrm>
            <a:off x="1608833" y="4144201"/>
            <a:ext cx="8323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预期在指定的嵌入式平台（如树莓派</a:t>
            </a:r>
            <a:r>
              <a:rPr lang="en-US" altLang="zh-CN" dirty="0"/>
              <a:t>4B</a:t>
            </a:r>
            <a:r>
              <a:rPr lang="zh-CN" altLang="zh-CN" dirty="0"/>
              <a:t>）上实现：对典型目标（如特定颜色的圆形标靶）在室内正常光照及一定范围的光照变化下，识别准确率高于</a:t>
            </a:r>
            <a:r>
              <a:rPr lang="en-US" altLang="zh-CN" b="1" dirty="0"/>
              <a:t>98%</a:t>
            </a:r>
            <a:r>
              <a:rPr lang="zh-CN" altLang="zh-CN" dirty="0"/>
              <a:t>；图像处理与识别延迟（从采集到结果输出）低于</a:t>
            </a:r>
            <a:r>
              <a:rPr lang="en-US" altLang="zh-CN" b="1" dirty="0"/>
              <a:t>50</a:t>
            </a:r>
            <a:r>
              <a:rPr lang="zh-CN" altLang="zh-CN" dirty="0"/>
              <a:t>毫秒，整体系统工作帧率不低于</a:t>
            </a:r>
            <a:r>
              <a:rPr lang="en-US" altLang="zh-CN" b="1" dirty="0"/>
              <a:t>15 FPS</a:t>
            </a:r>
            <a:r>
              <a:rPr lang="zh-CN" altLang="zh-CN" dirty="0"/>
              <a:t>；串口通信稳定，数据传输错误率低于</a:t>
            </a:r>
            <a:r>
              <a:rPr lang="en-US" altLang="zh-CN" b="1" dirty="0"/>
              <a:t>0.1%</a:t>
            </a:r>
            <a:r>
              <a:rPr lang="zh-CN" altLang="en-US" dirty="0"/>
              <a:t>；对图像定位的相对误差低于</a:t>
            </a:r>
            <a:r>
              <a:rPr lang="en-US" altLang="zh-CN" b="1" dirty="0"/>
              <a:t>5%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6" name="流程图: 可选过程 15">
            <a:extLst>
              <a:ext uri="{FF2B5EF4-FFF2-40B4-BE49-F238E27FC236}">
                <a16:creationId xmlns:a16="http://schemas.microsoft.com/office/drawing/2014/main" id="{ACD9F1C9-535B-EE83-33CA-3EF404A91A75}"/>
              </a:ext>
            </a:extLst>
          </p:cNvPr>
          <p:cNvSpPr/>
          <p:nvPr/>
        </p:nvSpPr>
        <p:spPr>
          <a:xfrm>
            <a:off x="1364722" y="3925052"/>
            <a:ext cx="9032793" cy="2031325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431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95EF-C3A3-5A73-934C-EF79388CF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36B60B-AE5A-7E1B-AA54-5F4F9D7A0F4E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DCA591-8FEC-27C0-94DA-460B891AB4B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5096" y="337651"/>
            <a:ext cx="6120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项目预期成果</a:t>
            </a:r>
          </a:p>
        </p:txBody>
      </p: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C622667D-2C4D-1499-E525-7FBE18163D77}"/>
              </a:ext>
            </a:extLst>
          </p:cNvPr>
          <p:cNvSpPr/>
          <p:nvPr/>
        </p:nvSpPr>
        <p:spPr>
          <a:xfrm>
            <a:off x="466283" y="1211126"/>
            <a:ext cx="532896" cy="5232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588076-BD96-CD1A-A1D8-6EC989388888}"/>
              </a:ext>
            </a:extLst>
          </p:cNvPr>
          <p:cNvSpPr txBox="1"/>
          <p:nvPr/>
        </p:nvSpPr>
        <p:spPr>
          <a:xfrm>
            <a:off x="1192959" y="1265626"/>
            <a:ext cx="275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竞赛与应用</a:t>
            </a:r>
          </a:p>
        </p:txBody>
      </p:sp>
      <p:sp>
        <p:nvSpPr>
          <p:cNvPr id="23" name="流程图: 可选过程 22">
            <a:extLst>
              <a:ext uri="{FF2B5EF4-FFF2-40B4-BE49-F238E27FC236}">
                <a16:creationId xmlns:a16="http://schemas.microsoft.com/office/drawing/2014/main" id="{AE6F8092-D58A-8938-0E06-BB3CCF60E206}"/>
              </a:ext>
            </a:extLst>
          </p:cNvPr>
          <p:cNvSpPr/>
          <p:nvPr/>
        </p:nvSpPr>
        <p:spPr>
          <a:xfrm>
            <a:off x="557118" y="1962024"/>
            <a:ext cx="9210612" cy="1683701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tx1"/>
                </a:solidFill>
              </a:rPr>
              <a:t>本系统可直接作为各类大学生机器人竞赛（如</a:t>
            </a:r>
            <a:r>
              <a:rPr lang="en-US" altLang="zh-CN" sz="2400" dirty="0" err="1">
                <a:solidFill>
                  <a:schemeClr val="tx1"/>
                </a:solidFill>
              </a:rPr>
              <a:t>RoboMaster</a:t>
            </a:r>
            <a:r>
              <a:rPr lang="zh-CN" altLang="zh-CN" sz="2400" dirty="0">
                <a:solidFill>
                  <a:schemeClr val="tx1"/>
                </a:solidFill>
              </a:rPr>
              <a:t>空中</a:t>
            </a:r>
            <a:r>
              <a:rPr lang="en-US" altLang="zh-CN" sz="2400" dirty="0">
                <a:solidFill>
                  <a:schemeClr val="tx1"/>
                </a:solidFill>
              </a:rPr>
              <a:t>/</a:t>
            </a:r>
            <a:r>
              <a:rPr lang="zh-CN" altLang="zh-CN" sz="2400" dirty="0">
                <a:solidFill>
                  <a:schemeClr val="tx1"/>
                </a:solidFill>
              </a:rPr>
              <a:t>地面机器人识别、智能车竞赛视觉组）、创新创业大赛的核心视觉模块，提供稳定的感知能力。作为中小学或高校的机器人视觉教学案例，或为小型自动化项目提供</a:t>
            </a:r>
            <a:r>
              <a:rPr lang="en-US" altLang="zh-CN" sz="2400" dirty="0">
                <a:solidFill>
                  <a:schemeClr val="tx1"/>
                </a:solidFill>
              </a:rPr>
              <a:t>“</a:t>
            </a:r>
            <a:r>
              <a:rPr lang="zh-CN" altLang="zh-CN" sz="2400" dirty="0">
                <a:solidFill>
                  <a:schemeClr val="tx1"/>
                </a:solidFill>
              </a:rPr>
              <a:t>开箱即用</a:t>
            </a:r>
            <a:r>
              <a:rPr lang="en-US" altLang="zh-CN" sz="2400" dirty="0">
                <a:solidFill>
                  <a:schemeClr val="tx1"/>
                </a:solidFill>
              </a:rPr>
              <a:t>”</a:t>
            </a:r>
            <a:r>
              <a:rPr lang="zh-CN" altLang="zh-CN" sz="2400" dirty="0">
                <a:solidFill>
                  <a:schemeClr val="tx1"/>
                </a:solidFill>
              </a:rPr>
              <a:t>的视觉解决方案。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endParaRPr lang="zh-CN" altLang="en-US" dirty="0"/>
          </a:p>
        </p:txBody>
      </p:sp>
      <p:sp>
        <p:nvSpPr>
          <p:cNvPr id="24" name="流程图: 接点 23">
            <a:extLst>
              <a:ext uri="{FF2B5EF4-FFF2-40B4-BE49-F238E27FC236}">
                <a16:creationId xmlns:a16="http://schemas.microsoft.com/office/drawing/2014/main" id="{F3B7355B-1A9A-FA88-C155-2B1438856E92}"/>
              </a:ext>
            </a:extLst>
          </p:cNvPr>
          <p:cNvSpPr/>
          <p:nvPr/>
        </p:nvSpPr>
        <p:spPr>
          <a:xfrm>
            <a:off x="558648" y="3813413"/>
            <a:ext cx="532896" cy="5232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7E0999-6173-8E34-B900-90F5923ABE78}"/>
              </a:ext>
            </a:extLst>
          </p:cNvPr>
          <p:cNvSpPr txBox="1"/>
          <p:nvPr/>
        </p:nvSpPr>
        <p:spPr>
          <a:xfrm>
            <a:off x="1236293" y="3880458"/>
            <a:ext cx="275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学术成果</a:t>
            </a:r>
          </a:p>
        </p:txBody>
      </p:sp>
      <p:sp>
        <p:nvSpPr>
          <p:cNvPr id="26" name="流程图: 可选过程 25">
            <a:extLst>
              <a:ext uri="{FF2B5EF4-FFF2-40B4-BE49-F238E27FC236}">
                <a16:creationId xmlns:a16="http://schemas.microsoft.com/office/drawing/2014/main" id="{026B9C09-50B1-9C5D-51B3-6CF4B6950531}"/>
              </a:ext>
            </a:extLst>
          </p:cNvPr>
          <p:cNvSpPr/>
          <p:nvPr/>
        </p:nvSpPr>
        <p:spPr>
          <a:xfrm>
            <a:off x="557118" y="4571366"/>
            <a:ext cx="9210612" cy="182440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400" dirty="0">
                <a:solidFill>
                  <a:schemeClr val="tx1"/>
                </a:solidFill>
              </a:rPr>
              <a:t>项目中</a:t>
            </a:r>
            <a:r>
              <a:rPr lang="zh-CN" altLang="en-US" sz="2400" dirty="0">
                <a:solidFill>
                  <a:schemeClr val="tx1"/>
                </a:solidFill>
              </a:rPr>
              <a:t>相关</a:t>
            </a:r>
            <a:r>
              <a:rPr lang="zh-CN" altLang="zh-CN" sz="2400" dirty="0">
                <a:solidFill>
                  <a:schemeClr val="tx1"/>
                </a:solidFill>
              </a:rPr>
              <a:t>经验，可以系统总结为一份具有较强实践指导意义的技术报告。若在自适应阈值算法或特定场景的特征工程上有创新性改进，可撰写论文投稿至模式识别、嵌入式系统应用或工程教育类期刊或会议。</a:t>
            </a:r>
          </a:p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4414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9E79-04C1-76DB-3468-E9A17EB9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8744DA-613C-5480-87B4-108B0F2F9859}"/>
              </a:ext>
            </a:extLst>
          </p:cNvPr>
          <p:cNvSpPr/>
          <p:nvPr/>
        </p:nvSpPr>
        <p:spPr>
          <a:xfrm>
            <a:off x="-2540" y="267335"/>
            <a:ext cx="643890" cy="547370"/>
          </a:xfrm>
          <a:prstGeom prst="rect">
            <a:avLst/>
          </a:prstGeom>
          <a:solidFill>
            <a:srgbClr val="0A418D"/>
          </a:solidFill>
          <a:ln>
            <a:solidFill>
              <a:srgbClr val="0A418D"/>
            </a:solidFill>
          </a:ln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79BD86-F528-7DC1-939A-DDF87B23B95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5096" y="337651"/>
            <a:ext cx="6120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09  </a:t>
            </a:r>
            <a:r>
              <a:rPr lang="zh-CN" altLang="en-US" sz="2800" b="1" dirty="0">
                <a:solidFill>
                  <a:srgbClr val="0A418D"/>
                </a:solidFill>
                <a:latin typeface="微软雅黑" panose="020B0503020204020204" charset="-122"/>
                <a:ea typeface="微软雅黑" panose="020B0503020204020204" charset="-122"/>
              </a:rPr>
              <a:t>项目预算</a:t>
            </a:r>
          </a:p>
        </p:txBody>
      </p:sp>
      <p:graphicFrame>
        <p:nvGraphicFramePr>
          <p:cNvPr id="7" name="文本框 4">
            <a:extLst>
              <a:ext uri="{FF2B5EF4-FFF2-40B4-BE49-F238E27FC236}">
                <a16:creationId xmlns:a16="http://schemas.microsoft.com/office/drawing/2014/main" id="{9CF96A2B-23EA-447D-154B-E8DC661DC006}"/>
              </a:ext>
            </a:extLst>
          </p:cNvPr>
          <p:cNvGraphicFramePr/>
          <p:nvPr/>
        </p:nvGraphicFramePr>
        <p:xfrm>
          <a:off x="641350" y="1174791"/>
          <a:ext cx="10591842" cy="4678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1166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836420"/>
            <a:ext cx="12192000" cy="2926715"/>
          </a:xfrm>
          <a:prstGeom prst="rect">
            <a:avLst/>
          </a:prstGeom>
          <a:solidFill>
            <a:srgbClr val="0B4189"/>
          </a:solidFill>
          <a:ln>
            <a:solidFill>
              <a:srgbClr val="0A418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29995" y="2658745"/>
            <a:ext cx="97555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敬请各位老师批评指正！</a:t>
            </a: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1851025" y="6029960"/>
            <a:ext cx="8752840" cy="3812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汇报人：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刘淇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     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汇报时间：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2026.1.22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YwZTMzNmUzODQxMGQ4YzVjN2E5NTYyODA2NDg4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55,&quot;left&quot;:423.65,&quot;top&quot;:107.1,&quot;width&quot;:400.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55,&quot;left&quot;:423.65,&quot;top&quot;:107.1,&quot;width&quot;:400.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80.55,&quot;left&quot;:423.65,&quot;top&quot;:107.1,&quot;width&quot;:400.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50.15,&quot;left&quot;:423.65,&quot;top&quot;:136.55,&quot;width&quot;:339.6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1200</TotalTime>
  <Words>1388</Words>
  <Application>Microsoft Office PowerPoint</Application>
  <PresentationFormat>宽屏</PresentationFormat>
  <Paragraphs>109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微软雅黑</vt:lpstr>
      <vt:lpstr>Arial</vt:lpstr>
      <vt:lpstr>Calibri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淇 刘</cp:lastModifiedBy>
  <cp:revision>166</cp:revision>
  <dcterms:created xsi:type="dcterms:W3CDTF">2019-06-19T02:08:00Z</dcterms:created>
  <dcterms:modified xsi:type="dcterms:W3CDTF">2026-01-23T04:30:27Z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D6D22CC113A7409BBA352DBD6ECC2913_13</vt:lpwstr>
  </property>
</Properties>
</file>